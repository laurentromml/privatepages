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5943600" cy="4114027"/>
          </a:xfrm>
          <a:prstGeom prst="rect">
            <a:avLst/>
          </a:prstGeom>
        </p:spPr>
      </p:pic>
      <p:pic>
        <p:nvPicPr>
          <p:cNvPr id="3" name="Phone mockup" descr="phone-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7772400" cy="932688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6949440"/>
            <a:ext cx="98755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0" b="1" i="0">
                <a:solidFill>
                  <a:srgbClr val="B36A43"/>
                </a:solidFill>
                <a:latin typeface="Canva Sans"/>
              </a:rPr>
              <a:t>Minecart App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8321040"/>
            <a:ext cx="11887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nva Sans"/>
              </a:rPr>
              <a:t>Overview : Parts Distributors</a:t>
            </a:r>
          </a:p>
        </p:txBody>
      </p:sp>
      <p:pic>
        <p:nvPicPr>
          <p:cNvPr id="6" name="MEMA award" descr="me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0" y="8778240"/>
            <a:ext cx="2926080" cy="1033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onference photo" descr="con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4297680"/>
            <a:ext cx="6766560" cy="3806906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4480560" y="822960"/>
            <a:ext cx="93268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000" b="1" i="0">
                <a:solidFill>
                  <a:srgbClr val="B36A43"/>
                </a:solidFill>
                <a:latin typeface="Canva Sans"/>
              </a:rPr>
              <a:t>Tromml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0" y="1554480"/>
            <a:ext cx="1828800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500" b="1" i="0">
                <a:solidFill>
                  <a:srgbClr val="FFFFFF"/>
                </a:solidFill>
                <a:latin typeface="Canva Sans"/>
              </a:rPr>
              <a:t>Sales Intelligence Built for the Automotive Aftermarket</a:t>
            </a:r>
          </a:p>
        </p:txBody>
      </p:sp>
      <p:pic>
        <p:nvPicPr>
          <p:cNvPr id="5" name="Check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663440"/>
            <a:ext cx="548640" cy="498846"/>
          </a:xfrm>
          <a:prstGeom prst="rect">
            <a:avLst/>
          </a:prstGeom>
        </p:spPr>
      </p:pic>
      <p:sp>
        <p:nvSpPr>
          <p:cNvPr id="6" name="Bullet"/>
          <p:cNvSpPr txBox="1"/>
          <p:nvPr/>
        </p:nvSpPr>
        <p:spPr>
          <a:xfrm>
            <a:off x="1920240" y="452628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000" b="0" i="0">
                <a:solidFill>
                  <a:srgbClr val="FFFFFF"/>
                </a:solidFill>
                <a:latin typeface="Canva Sans"/>
              </a:rPr>
              <a:t>Aftermarket AI Experts</a:t>
            </a:r>
          </a:p>
        </p:txBody>
      </p:sp>
      <p:pic>
        <p:nvPicPr>
          <p:cNvPr id="7" name="Check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897879"/>
            <a:ext cx="548640" cy="498846"/>
          </a:xfrm>
          <a:prstGeom prst="rect">
            <a:avLst/>
          </a:prstGeom>
        </p:spPr>
      </p:pic>
      <p:sp>
        <p:nvSpPr>
          <p:cNvPr id="8" name="Bullet"/>
          <p:cNvSpPr txBox="1"/>
          <p:nvPr/>
        </p:nvSpPr>
        <p:spPr>
          <a:xfrm>
            <a:off x="1920240" y="576072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000" b="0" i="0">
                <a:solidFill>
                  <a:srgbClr val="FFFFFF"/>
                </a:solidFill>
                <a:latin typeface="Canva Sans"/>
              </a:rPr>
              <a:t>Award-Winning Technology</a:t>
            </a:r>
          </a:p>
        </p:txBody>
      </p:sp>
      <p:pic>
        <p:nvPicPr>
          <p:cNvPr id="9" name="Check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132320"/>
            <a:ext cx="548640" cy="498846"/>
          </a:xfrm>
          <a:prstGeom prst="rect">
            <a:avLst/>
          </a:prstGeom>
        </p:spPr>
      </p:pic>
      <p:sp>
        <p:nvSpPr>
          <p:cNvPr id="10" name="Bullet"/>
          <p:cNvSpPr txBox="1"/>
          <p:nvPr/>
        </p:nvSpPr>
        <p:spPr>
          <a:xfrm>
            <a:off x="1920240" y="699516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000" b="0" i="0">
                <a:solidFill>
                  <a:srgbClr val="FFFFFF"/>
                </a:solidFill>
                <a:latin typeface="Canva Sans"/>
              </a:rPr>
              <a:t>Industry Backed and Trusted</a:t>
            </a:r>
          </a:p>
        </p:txBody>
      </p:sp>
      <p:sp>
        <p:nvSpPr>
          <p:cNvPr id="11" name="Trusted by"/>
          <p:cNvSpPr txBox="1"/>
          <p:nvPr/>
        </p:nvSpPr>
        <p:spPr>
          <a:xfrm>
            <a:off x="548640" y="8503920"/>
            <a:ext cx="70408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nva Sans"/>
              </a:rPr>
              <a:t>Trusted by:</a:t>
            </a:r>
          </a:p>
        </p:txBody>
      </p:sp>
      <p:grpSp>
        <p:nvGrpSpPr>
          <p:cNvPr id="12" name="Trusted-by logos"/>
          <p:cNvGrpSpPr/>
          <p:nvPr/>
        </p:nvGrpSpPr>
        <p:grpSpPr>
          <a:xfrm>
            <a:off x="548640" y="9052560"/>
            <a:ext cx="8394944" cy="914400"/>
            <a:chOff x="548640" y="9052560"/>
            <a:chExt cx="8394944" cy="914400"/>
          </a:xfrm>
        </p:grpSpPr>
        <p:pic>
          <p:nvPicPr>
            <p:cNvPr id="13" name="l-temot" descr="l-temo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9052560"/>
              <a:ext cx="1628384" cy="914400"/>
            </a:xfrm>
            <a:prstGeom prst="rect">
              <a:avLst/>
            </a:prstGeom>
          </p:spPr>
        </p:pic>
        <p:pic>
          <p:nvPicPr>
            <p:cNvPr id="14" name="l-shocksurplus" descr="l-shocksurplus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40280" y="9052560"/>
              <a:ext cx="1628384" cy="914400"/>
            </a:xfrm>
            <a:prstGeom prst="rect">
              <a:avLst/>
            </a:prstGeom>
          </p:spPr>
        </p:pic>
        <p:pic>
          <p:nvPicPr>
            <p:cNvPr id="15" name="l-oeg" descr="l-oeg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31920" y="9052560"/>
              <a:ext cx="1628384" cy="914400"/>
            </a:xfrm>
            <a:prstGeom prst="rect">
              <a:avLst/>
            </a:prstGeom>
          </p:spPr>
        </p:pic>
        <p:pic>
          <p:nvPicPr>
            <p:cNvPr id="16" name="l-nmg" descr="l-nmg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23560" y="9052560"/>
              <a:ext cx="1620982" cy="914400"/>
            </a:xfrm>
            <a:prstGeom prst="rect">
              <a:avLst/>
            </a:prstGeom>
          </p:spPr>
        </p:pic>
        <p:pic>
          <p:nvPicPr>
            <p:cNvPr id="17" name="l-autowares" descr="l-autowares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15200" y="9052560"/>
              <a:ext cx="1628384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The Situation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A rep's job grew, and so did what a rep hears</a:t>
            </a:r>
          </a:p>
        </p:txBody>
      </p:sp>
      <p:grpSp>
        <p:nvGrpSpPr>
          <p:cNvPr id="5" name="Then vs now"/>
          <p:cNvGrpSpPr/>
          <p:nvPr/>
        </p:nvGrpSpPr>
        <p:grpSpPr>
          <a:xfrm>
            <a:off x="822960" y="3657600"/>
            <a:ext cx="16642080" cy="4937760"/>
            <a:chOff x="822960" y="3657600"/>
            <a:chExt cx="16642080" cy="4937760"/>
          </a:xfrm>
        </p:grpSpPr>
        <p:sp>
          <p:nvSpPr>
            <p:cNvPr id="6" name="Then card"/>
            <p:cNvSpPr/>
            <p:nvPr/>
          </p:nvSpPr>
          <p:spPr>
            <a:xfrm>
              <a:off x="822960" y="3657600"/>
              <a:ext cx="7680960" cy="4937760"/>
            </a:xfrm>
            <a:prstGeom prst="roundRect">
              <a:avLst/>
            </a:prstGeom>
            <a:solidFill>
              <a:srgbClr val="0F264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TextBox 6"/>
            <p:cNvSpPr txBox="1"/>
            <p:nvPr/>
          </p:nvSpPr>
          <p:spPr>
            <a:xfrm>
              <a:off x="1188720" y="3840480"/>
              <a:ext cx="365760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1" i="0">
                  <a:solidFill>
                    <a:srgbClr val="B36A43"/>
                  </a:solidFill>
                  <a:latin typeface="Canva Sans"/>
                </a:rPr>
                <a:t>THEN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88720" y="4480560"/>
              <a:ext cx="6949440" cy="8229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4000" b="0" i="0">
                  <a:solidFill>
                    <a:srgbClr val="FFFFFF"/>
                  </a:solidFill>
                  <a:latin typeface="Canva Sans"/>
                </a:rPr>
                <a:t>Build shop relationships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88720" y="5486400"/>
              <a:ext cx="6949440" cy="8229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4000" b="0" i="0">
                  <a:solidFill>
                    <a:srgbClr val="FFFFFF"/>
                  </a:solidFill>
                  <a:latin typeface="Canva Sans"/>
                </a:rPr>
                <a:t>Drop off flyers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88720" y="6492240"/>
              <a:ext cx="6949440" cy="8229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4000" b="0" i="0">
                  <a:solidFill>
                    <a:srgbClr val="FFFFFF"/>
                  </a:solidFill>
                  <a:latin typeface="Canva Sans"/>
                </a:rPr>
                <a:t>Take stock orders and returns</a:t>
              </a:r>
            </a:p>
          </p:txBody>
        </p:sp>
        <p:sp>
          <p:nvSpPr>
            <p:cNvPr id="11" name="Arrow"/>
            <p:cNvSpPr/>
            <p:nvPr/>
          </p:nvSpPr>
          <p:spPr>
            <a:xfrm>
              <a:off x="8686800" y="5760720"/>
              <a:ext cx="914400" cy="731520"/>
            </a:xfrm>
            <a:prstGeom prst="rightArrow">
              <a:avLst/>
            </a:prstGeom>
            <a:solidFill>
              <a:srgbClr val="B36A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Now card"/>
            <p:cNvSpPr/>
            <p:nvPr/>
          </p:nvSpPr>
          <p:spPr>
            <a:xfrm>
              <a:off x="9784080" y="3657600"/>
              <a:ext cx="7680960" cy="4937760"/>
            </a:xfrm>
            <a:prstGeom prst="roundRect">
              <a:avLst/>
            </a:prstGeom>
            <a:solidFill>
              <a:srgbClr val="0F2640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TextBox 12"/>
            <p:cNvSpPr txBox="1"/>
            <p:nvPr/>
          </p:nvSpPr>
          <p:spPr>
            <a:xfrm>
              <a:off x="10149840" y="3840480"/>
              <a:ext cx="548640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1" i="0">
                  <a:solidFill>
                    <a:srgbClr val="B36A43"/>
                  </a:solidFill>
                  <a:latin typeface="Canva Sans"/>
                </a:rPr>
                <a:t>NOW, ON TOP OF THAT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149840" y="4480560"/>
              <a:ext cx="694944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400" b="0" i="0">
                  <a:solidFill>
                    <a:srgbClr val="FFFFFF"/>
                  </a:solidFill>
                  <a:latin typeface="Canva Sans"/>
                </a:rPr>
                <a:t>Run promotions and events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149840" y="5257800"/>
              <a:ext cx="694944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400" b="0" i="0">
                  <a:solidFill>
                    <a:srgbClr val="FFFFFF"/>
                  </a:solidFill>
                  <a:latin typeface="Canva Sans"/>
                </a:rPr>
                <a:t>Fix online order issues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149840" y="6035040"/>
              <a:ext cx="694944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400" b="0" i="0">
                  <a:solidFill>
                    <a:srgbClr val="FFFFFF"/>
                  </a:solidFill>
                  <a:latin typeface="Canva Sans"/>
                </a:rPr>
                <a:t>Warranty and quality claims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149840" y="6812280"/>
              <a:ext cx="694944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400" b="0" i="0">
                  <a:solidFill>
                    <a:srgbClr val="FFFFFF"/>
                  </a:solidFill>
                  <a:latin typeface="Canva Sans"/>
                </a:rPr>
                <a:t>Pricing and account changes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149840" y="7589520"/>
              <a:ext cx="694944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400" b="0" i="0">
                  <a:solidFill>
                    <a:srgbClr val="FFFFFF"/>
                  </a:solidFill>
                  <a:latin typeface="Canva Sans"/>
                </a:rPr>
                <a:t>Digital ads and upsells</a:t>
              </a:r>
            </a:p>
          </p:txBody>
        </p:sp>
      </p:grpSp>
      <p:sp>
        <p:nvSpPr>
          <p:cNvPr id="19" name="Takeaway"/>
          <p:cNvSpPr txBox="1"/>
          <p:nvPr/>
        </p:nvSpPr>
        <p:spPr>
          <a:xfrm>
            <a:off x="548640" y="9052560"/>
            <a:ext cx="17190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nva Sans"/>
              </a:rPr>
              <a:t>Every new duty is a new conversation. Reps hear more about your market than anyone in the building.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The Situation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Almost none of it makes it back</a:t>
            </a:r>
          </a:p>
        </p:txBody>
      </p:sp>
      <p:grpSp>
        <p:nvGrpSpPr>
          <p:cNvPr id="5" name="Heard vs reached bars"/>
          <p:cNvGrpSpPr/>
          <p:nvPr/>
        </p:nvGrpSpPr>
        <p:grpSpPr>
          <a:xfrm>
            <a:off x="914399" y="3566160"/>
            <a:ext cx="8961121" cy="5212080"/>
            <a:chOff x="914399" y="3566160"/>
            <a:chExt cx="8961121" cy="5212080"/>
          </a:xfrm>
        </p:grpSpPr>
        <p:sp>
          <p:nvSpPr>
            <p:cNvPr id="6" name="TextBox 5"/>
            <p:cNvSpPr txBox="1"/>
            <p:nvPr/>
          </p:nvSpPr>
          <p:spPr>
            <a:xfrm>
              <a:off x="1828800" y="3566160"/>
              <a:ext cx="274320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600" b="1" i="0">
                  <a:solidFill>
                    <a:srgbClr val="9AA5B4"/>
                  </a:solidFill>
                  <a:latin typeface="Canva Sans"/>
                </a:rPr>
                <a:t>THEN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766560" y="3566160"/>
              <a:ext cx="274320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600" b="1" i="0">
                  <a:solidFill>
                    <a:srgbClr val="FFFFFF"/>
                  </a:solidFill>
                  <a:latin typeface="Canva Sans"/>
                </a:rPr>
                <a:t>NOW</a:t>
              </a:r>
            </a:p>
          </p:txBody>
        </p:sp>
        <p:sp>
          <p:nvSpPr>
            <p:cNvPr id="8" name="Reps hear"/>
            <p:cNvSpPr/>
            <p:nvPr/>
          </p:nvSpPr>
          <p:spPr>
            <a:xfrm>
              <a:off x="1280160" y="6583680"/>
              <a:ext cx="1463040" cy="1645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TextBox 8"/>
            <p:cNvSpPr txBox="1"/>
            <p:nvPr/>
          </p:nvSpPr>
          <p:spPr>
            <a:xfrm>
              <a:off x="914399" y="8321040"/>
              <a:ext cx="2194560" cy="4572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000" b="0" i="0">
                  <a:solidFill>
                    <a:srgbClr val="9AA5B4"/>
                  </a:solidFill>
                  <a:latin typeface="Canva Sans"/>
                </a:rPr>
                <a:t>Reps hear</a:t>
              </a:r>
            </a:p>
          </p:txBody>
        </p:sp>
        <p:sp>
          <p:nvSpPr>
            <p:cNvPr id="10" name="Reaches you"/>
            <p:cNvSpPr/>
            <p:nvPr/>
          </p:nvSpPr>
          <p:spPr>
            <a:xfrm>
              <a:off x="3108960" y="7132320"/>
              <a:ext cx="1463040" cy="1097280"/>
            </a:xfrm>
            <a:prstGeom prst="rect">
              <a:avLst/>
            </a:prstGeom>
            <a:solidFill>
              <a:srgbClr val="B36A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TextBox 10"/>
            <p:cNvSpPr txBox="1"/>
            <p:nvPr/>
          </p:nvSpPr>
          <p:spPr>
            <a:xfrm>
              <a:off x="2743200" y="8321040"/>
              <a:ext cx="2194560" cy="4572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000" b="0" i="0">
                  <a:solidFill>
                    <a:srgbClr val="9AA5B4"/>
                  </a:solidFill>
                  <a:latin typeface="Canva Sans"/>
                </a:rPr>
                <a:t>Reaches you</a:t>
              </a:r>
            </a:p>
          </p:txBody>
        </p:sp>
        <p:sp>
          <p:nvSpPr>
            <p:cNvPr id="12" name="Reps hear"/>
            <p:cNvSpPr/>
            <p:nvPr/>
          </p:nvSpPr>
          <p:spPr>
            <a:xfrm>
              <a:off x="6217920" y="4023360"/>
              <a:ext cx="1463040" cy="4206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TextBox 12"/>
            <p:cNvSpPr txBox="1"/>
            <p:nvPr/>
          </p:nvSpPr>
          <p:spPr>
            <a:xfrm>
              <a:off x="5852159" y="8321040"/>
              <a:ext cx="2194560" cy="4572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000" b="0" i="0">
                  <a:solidFill>
                    <a:srgbClr val="9AA5B4"/>
                  </a:solidFill>
                  <a:latin typeface="Canva Sans"/>
                </a:rPr>
                <a:t>Reps hear</a:t>
              </a:r>
            </a:p>
          </p:txBody>
        </p:sp>
        <p:sp>
          <p:nvSpPr>
            <p:cNvPr id="14" name="Reaches you"/>
            <p:cNvSpPr/>
            <p:nvPr/>
          </p:nvSpPr>
          <p:spPr>
            <a:xfrm>
              <a:off x="8046720" y="7132320"/>
              <a:ext cx="1463040" cy="1097280"/>
            </a:xfrm>
            <a:prstGeom prst="rect">
              <a:avLst/>
            </a:prstGeom>
            <a:solidFill>
              <a:srgbClr val="B36A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TextBox 14"/>
            <p:cNvSpPr txBox="1"/>
            <p:nvPr/>
          </p:nvSpPr>
          <p:spPr>
            <a:xfrm>
              <a:off x="7680960" y="8321040"/>
              <a:ext cx="2194560" cy="4572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000" b="0" i="0">
                  <a:solidFill>
                    <a:srgbClr val="9AA5B4"/>
                  </a:solidFill>
                  <a:latin typeface="Canva Sans"/>
                </a:rPr>
                <a:t>Reaches you</a:t>
              </a:r>
            </a:p>
          </p:txBody>
        </p:sp>
        <p:sp>
          <p:nvSpPr>
            <p:cNvPr id="16" name="The gap"/>
            <p:cNvSpPr/>
            <p:nvPr/>
          </p:nvSpPr>
          <p:spPr>
            <a:xfrm>
              <a:off x="8046720" y="4023360"/>
              <a:ext cx="1463040" cy="3108960"/>
            </a:xfrm>
            <a:prstGeom prst="rect">
              <a:avLst/>
            </a:prstGeom>
            <a:noFill/>
            <a:ln w="25400">
              <a:solidFill>
                <a:srgbClr val="B36A4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7" name="In the gap list"/>
          <p:cNvGrpSpPr/>
          <p:nvPr/>
        </p:nvGrpSpPr>
        <p:grpSpPr>
          <a:xfrm>
            <a:off x="10607040" y="3840480"/>
            <a:ext cx="7315200" cy="4206240"/>
            <a:chOff x="10607040" y="3840480"/>
            <a:chExt cx="7315200" cy="4206240"/>
          </a:xfrm>
        </p:grpSpPr>
        <p:sp>
          <p:nvSpPr>
            <p:cNvPr id="18" name="TextBox 17"/>
            <p:cNvSpPr txBox="1"/>
            <p:nvPr/>
          </p:nvSpPr>
          <p:spPr>
            <a:xfrm>
              <a:off x="10607040" y="3840480"/>
              <a:ext cx="548640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1" i="0">
                  <a:solidFill>
                    <a:srgbClr val="B36A43"/>
                  </a:solidFill>
                  <a:latin typeface="Canva Sans"/>
                </a:rPr>
                <a:t>IN THE GAP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607040" y="4480560"/>
              <a:ext cx="73152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600" b="0" i="0">
                  <a:solidFill>
                    <a:srgbClr val="FFFFFF"/>
                  </a:solidFill>
                  <a:latin typeface="Canva Sans"/>
                </a:rPr>
                <a:t>Competitor moves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07040" y="5212080"/>
              <a:ext cx="73152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600" b="0" i="0">
                  <a:solidFill>
                    <a:srgbClr val="FFFFFF"/>
                  </a:solidFill>
                  <a:latin typeface="Canva Sans"/>
                </a:rPr>
                <a:t>Accounts about to switch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07040" y="5943600"/>
              <a:ext cx="73152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600" b="0" i="0">
                  <a:solidFill>
                    <a:srgbClr val="FFFFFF"/>
                  </a:solidFill>
                  <a:latin typeface="Canva Sans"/>
                </a:rPr>
                <a:t>Product issues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07040" y="6675120"/>
              <a:ext cx="73152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600" b="0" i="0">
                  <a:solidFill>
                    <a:srgbClr val="FFFFFF"/>
                  </a:solidFill>
                  <a:latin typeface="Canva Sans"/>
                </a:rPr>
                <a:t>Promo results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07040" y="7406640"/>
              <a:ext cx="73152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600" b="0" i="0">
                  <a:solidFill>
                    <a:srgbClr val="FFFFFF"/>
                  </a:solidFill>
                  <a:latin typeface="Canva Sans"/>
                </a:rPr>
                <a:t>Shops ready to buy</a:t>
              </a:r>
            </a:p>
          </p:txBody>
        </p:sp>
      </p:grpSp>
      <p:sp>
        <p:nvSpPr>
          <p:cNvPr id="24" name="Takeaway"/>
          <p:cNvSpPr txBox="1"/>
          <p:nvPr/>
        </p:nvSpPr>
        <p:spPr>
          <a:xfrm>
            <a:off x="548640" y="9052560"/>
            <a:ext cx="17190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nva Sans"/>
              </a:rPr>
              <a:t>The job grew. The channel back didn't. Every fix so far asked the rep to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Our Solution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Built for the Aftermarket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1005840" y="3749039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2520"/>
              </a:spcAft>
              <a:buClr>
                <a:srgbClr val="B36A43"/>
              </a:buClr>
              <a:buChar char="•"/>
            </a:pPr>
            <a:r>
              <a:rPr sz="4600">
                <a:solidFill>
                  <a:srgbClr val="FFFFFF"/>
                </a:solidFill>
                <a:latin typeface="Canva Sans"/>
              </a:rPr>
              <a:t>Reps talk, not type. Every stop captured.</a:t>
            </a:r>
          </a:p>
          <a:p>
            <a:pPr marL="457200" indent="-457200">
              <a:spcAft>
                <a:spcPts val="2520"/>
              </a:spcAft>
              <a:buClr>
                <a:srgbClr val="B36A43"/>
              </a:buClr>
              <a:buChar char="•"/>
            </a:pPr>
            <a:r>
              <a:rPr sz="4600">
                <a:solidFill>
                  <a:srgbClr val="FFFFFF"/>
                </a:solidFill>
                <a:latin typeface="Canva Sans"/>
              </a:rPr>
              <a:t>Managers see the field without chasing it.</a:t>
            </a:r>
          </a:p>
          <a:p>
            <a:pPr marL="457200" indent="-457200">
              <a:spcAft>
                <a:spcPts val="2520"/>
              </a:spcAft>
              <a:buClr>
                <a:srgbClr val="B36A43"/>
              </a:buClr>
              <a:buChar char="•"/>
            </a:pPr>
            <a:r>
              <a:rPr sz="4600">
                <a:solidFill>
                  <a:srgbClr val="FFFFFF"/>
                </a:solidFill>
                <a:latin typeface="Canva Sans"/>
              </a:rPr>
              <a:t>What the business learns, it keeps.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1005840" y="81381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 i="1">
                <a:solidFill>
                  <a:srgbClr val="FFFFFF"/>
                </a:solidFill>
                <a:latin typeface="Canva Sans"/>
              </a:rPr>
              <a:t>Built for the aftermarket from the first line of code.</a:t>
            </a:r>
          </a:p>
        </p:txBody>
      </p:sp>
      <p:pic>
        <p:nvPicPr>
          <p:cNvPr id="7" name="Phone mockup" descr="phone-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0" y="3291840"/>
            <a:ext cx="5791200" cy="6949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Our Solution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Works with what you already run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1005840" y="3840480"/>
            <a:ext cx="1600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2880"/>
              </a:spcAft>
              <a:buClr>
                <a:srgbClr val="B36A43"/>
              </a:buClr>
              <a:buChar char="•"/>
            </a:pPr>
            <a:r>
              <a:rPr sz="4400">
                <a:solidFill>
                  <a:srgbClr val="FFFFFF"/>
                </a:solidFill>
                <a:latin typeface="Canva Sans"/>
              </a:rPr>
              <a:t>Your CRM and sales data stay where they are. Minecart writes back.</a:t>
            </a:r>
          </a:p>
          <a:p>
            <a:pPr marL="457200" indent="-457200">
              <a:spcAft>
                <a:spcPts val="2880"/>
              </a:spcAft>
              <a:buClr>
                <a:srgbClr val="B36A43"/>
              </a:buClr>
              <a:buChar char="•"/>
            </a:pPr>
            <a:r>
              <a:rPr sz="4400">
                <a:solidFill>
                  <a:srgbClr val="FFFFFF"/>
                </a:solidFill>
                <a:latin typeface="Canva Sans"/>
              </a:rPr>
              <a:t>Your system says what happened. Minecart says what was said, and what to do next.</a:t>
            </a:r>
          </a:p>
          <a:p>
            <a:pPr marL="457200" indent="-457200">
              <a:spcAft>
                <a:spcPts val="2880"/>
              </a:spcAft>
              <a:buClr>
                <a:srgbClr val="B36A43"/>
              </a:buClr>
              <a:buChar char="•"/>
            </a:pPr>
            <a:r>
              <a:rPr sz="4400">
                <a:solidFill>
                  <a:srgbClr val="FFFFFF"/>
                </a:solidFill>
                <a:latin typeface="Canva Sans"/>
              </a:rPr>
              <a:t>Reps change nothing. They talk instead of type.</a:t>
            </a:r>
          </a:p>
          <a:p>
            <a:pPr marL="457200" indent="-457200">
              <a:spcAft>
                <a:spcPts val="2880"/>
              </a:spcAft>
              <a:buClr>
                <a:srgbClr val="B36A43"/>
              </a:buClr>
              <a:buChar char="•"/>
            </a:pPr>
            <a:r>
              <a:rPr sz="4400">
                <a:solidFill>
                  <a:srgbClr val="FFFFFF"/>
                </a:solidFill>
                <a:latin typeface="Canva Sans"/>
              </a:rPr>
              <a:t>Your data is yours.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How It Works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Four moves, one loop</a:t>
            </a:r>
          </a:p>
        </p:txBody>
      </p:sp>
      <p:grpSp>
        <p:nvGrpSpPr>
          <p:cNvPr id="5" name="Loop"/>
          <p:cNvGrpSpPr/>
          <p:nvPr/>
        </p:nvGrpSpPr>
        <p:grpSpPr>
          <a:xfrm>
            <a:off x="3840479" y="2971800"/>
            <a:ext cx="10607041" cy="6309360"/>
            <a:chOff x="3840479" y="2971800"/>
            <a:chExt cx="10607041" cy="6309360"/>
          </a:xfrm>
        </p:grpSpPr>
        <p:sp>
          <p:nvSpPr>
            <p:cNvPr id="6" name="Ring"/>
            <p:cNvSpPr/>
            <p:nvPr/>
          </p:nvSpPr>
          <p:spPr>
            <a:xfrm>
              <a:off x="6949440" y="3931920"/>
              <a:ext cx="4389120" cy="4389120"/>
            </a:xfrm>
            <a:prstGeom prst="ellipse">
              <a:avLst/>
            </a:prstGeom>
            <a:noFill/>
            <a:ln w="381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Capture"/>
            <p:cNvSpPr/>
            <p:nvPr/>
          </p:nvSpPr>
          <p:spPr>
            <a:xfrm>
              <a:off x="8887968" y="3675888"/>
              <a:ext cx="512064" cy="512064"/>
            </a:xfrm>
            <a:prstGeom prst="ellipse">
              <a:avLst/>
            </a:prstGeom>
            <a:solidFill>
              <a:srgbClr val="04182D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TextBox 7"/>
            <p:cNvSpPr txBox="1"/>
            <p:nvPr/>
          </p:nvSpPr>
          <p:spPr>
            <a:xfrm>
              <a:off x="7315200" y="2971800"/>
              <a:ext cx="36576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3400" b="1" i="0">
                  <a:solidFill>
                    <a:srgbClr val="FFFFFF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9" name="Signal"/>
            <p:cNvSpPr/>
            <p:nvPr/>
          </p:nvSpPr>
          <p:spPr>
            <a:xfrm>
              <a:off x="11082528" y="5870448"/>
              <a:ext cx="512064" cy="512064"/>
            </a:xfrm>
            <a:prstGeom prst="ellipse">
              <a:avLst/>
            </a:prstGeom>
            <a:solidFill>
              <a:srgbClr val="04182D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TextBox 9"/>
            <p:cNvSpPr txBox="1"/>
            <p:nvPr/>
          </p:nvSpPr>
          <p:spPr>
            <a:xfrm>
              <a:off x="11704320" y="5760720"/>
              <a:ext cx="27432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400" b="1" i="0">
                  <a:solidFill>
                    <a:srgbClr val="FFFFFF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11" name="Attention"/>
            <p:cNvSpPr/>
            <p:nvPr/>
          </p:nvSpPr>
          <p:spPr>
            <a:xfrm>
              <a:off x="8887968" y="8065008"/>
              <a:ext cx="512064" cy="512064"/>
            </a:xfrm>
            <a:prstGeom prst="ellipse">
              <a:avLst/>
            </a:prstGeom>
            <a:solidFill>
              <a:srgbClr val="04182D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TextBox 11"/>
            <p:cNvSpPr txBox="1"/>
            <p:nvPr/>
          </p:nvSpPr>
          <p:spPr>
            <a:xfrm>
              <a:off x="7315200" y="8641080"/>
              <a:ext cx="36576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3400" b="1" i="0">
                  <a:solidFill>
                    <a:srgbClr val="FFFFFF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13" name="Action"/>
            <p:cNvSpPr/>
            <p:nvPr/>
          </p:nvSpPr>
          <p:spPr>
            <a:xfrm>
              <a:off x="6693407" y="5870448"/>
              <a:ext cx="512064" cy="512064"/>
            </a:xfrm>
            <a:prstGeom prst="ellipse">
              <a:avLst/>
            </a:prstGeom>
            <a:solidFill>
              <a:srgbClr val="04182D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TextBox 13"/>
            <p:cNvSpPr txBox="1"/>
            <p:nvPr/>
          </p:nvSpPr>
          <p:spPr>
            <a:xfrm>
              <a:off x="3840479" y="5760720"/>
              <a:ext cx="274320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3400" b="1" i="0">
                  <a:solidFill>
                    <a:srgbClr val="FFFFFF"/>
                  </a:solidFill>
                  <a:latin typeface="Canva Sans"/>
                </a:rPr>
                <a:t>Action</a:t>
              </a:r>
            </a:p>
          </p:txBody>
        </p:sp>
      </p:grpSp>
      <p:sp>
        <p:nvSpPr>
          <p:cNvPr id="15" name="Center label"/>
          <p:cNvSpPr txBox="1"/>
          <p:nvPr/>
        </p:nvSpPr>
        <p:spPr>
          <a:xfrm>
            <a:off x="6858000" y="571500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000" b="0" i="0">
                <a:solidFill>
                  <a:srgbClr val="9AA5B4"/>
                </a:solidFill>
                <a:latin typeface="Canva Sans"/>
              </a:rPr>
              <a:t>Every pass compounds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Rep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After the stop: talk, don't type</a:t>
            </a:r>
          </a:p>
        </p:txBody>
      </p:sp>
      <p:grpSp>
        <p:nvGrpSpPr>
          <p:cNvPr id="5" name="Phone screen"/>
          <p:cNvGrpSpPr/>
          <p:nvPr/>
        </p:nvGrpSpPr>
        <p:grpSpPr>
          <a:xfrm>
            <a:off x="960120" y="3246120"/>
            <a:ext cx="3311158" cy="6858000"/>
            <a:chOff x="960120" y="3246120"/>
            <a:chExt cx="3311158" cy="6858000"/>
          </a:xfrm>
        </p:grpSpPr>
        <p:sp>
          <p:nvSpPr>
            <p:cNvPr id="6" name="Frame"/>
            <p:cNvSpPr/>
            <p:nvPr/>
          </p:nvSpPr>
          <p:spPr>
            <a:xfrm>
              <a:off x="960120" y="3246120"/>
              <a:ext cx="3311158" cy="6858000"/>
            </a:xfrm>
            <a:prstGeom prst="roundRect">
              <a:avLst/>
            </a:prstGeom>
            <a:solidFill>
              <a:srgbClr val="00000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7" name="Screenshot" descr="rep-captur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3383280"/>
              <a:ext cx="3036838" cy="6583680"/>
            </a:xfrm>
            <a:prstGeom prst="rect">
              <a:avLst/>
            </a:prstGeom>
          </p:spPr>
        </p:pic>
      </p:grpSp>
      <p:sp>
        <p:nvSpPr>
          <p:cNvPr id="8" name="Bullets"/>
          <p:cNvSpPr txBox="1"/>
          <p:nvPr/>
        </p:nvSpPr>
        <p:spPr>
          <a:xfrm>
            <a:off x="4957078" y="365760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90 seconds in the truck. One button.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No form. No account to pick.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Everything the shop said, as the rep said it.</a:t>
            </a:r>
          </a:p>
        </p:txBody>
      </p:sp>
      <p:sp>
        <p:nvSpPr>
          <p:cNvPr id="9" name="Gets back label"/>
          <p:cNvSpPr txBox="1"/>
          <p:nvPr/>
        </p:nvSpPr>
        <p:spPr>
          <a:xfrm>
            <a:off x="4957078" y="81381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9AA5B4"/>
                </a:solidFill>
                <a:latin typeface="Canva Sans"/>
              </a:rPr>
              <a:t>What the rep gets back</a:t>
            </a:r>
          </a:p>
        </p:txBody>
      </p:sp>
      <p:sp>
        <p:nvSpPr>
          <p:cNvPr id="10" name="Gets back"/>
          <p:cNvSpPr txBox="1"/>
          <p:nvPr/>
        </p:nvSpPr>
        <p:spPr>
          <a:xfrm>
            <a:off x="4957078" y="859536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B36A43"/>
                </a:solidFill>
                <a:latin typeface="Canva Sans"/>
              </a:rPr>
              <a:t>The evening.</a:t>
            </a:r>
          </a:p>
        </p:txBody>
      </p:sp>
      <p:grpSp>
        <p:nvGrpSpPr>
          <p:cNvPr id="11" name="Loop marker"/>
          <p:cNvGrpSpPr/>
          <p:nvPr/>
        </p:nvGrpSpPr>
        <p:grpSpPr>
          <a:xfrm>
            <a:off x="14721840" y="7296912"/>
            <a:ext cx="4023360" cy="2505456"/>
            <a:chOff x="14721840" y="7296912"/>
            <a:chExt cx="4023360" cy="2505456"/>
          </a:xfrm>
        </p:grpSpPr>
        <p:sp>
          <p:nvSpPr>
            <p:cNvPr id="12" name="Ring"/>
            <p:cNvSpPr/>
            <p:nvPr/>
          </p:nvSpPr>
          <p:spPr>
            <a:xfrm>
              <a:off x="16166592" y="8165592"/>
              <a:ext cx="1133856" cy="1133856"/>
            </a:xfrm>
            <a:prstGeom prst="ellipse">
              <a:avLst/>
            </a:prstGeom>
            <a:noFill/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Capture"/>
            <p:cNvSpPr/>
            <p:nvPr/>
          </p:nvSpPr>
          <p:spPr>
            <a:xfrm>
              <a:off x="16605504" y="8037576"/>
              <a:ext cx="256032" cy="256032"/>
            </a:xfrm>
            <a:prstGeom prst="ellipse">
              <a:avLst/>
            </a:prstGeom>
            <a:solidFill>
              <a:srgbClr val="B36A43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TextBox 13"/>
            <p:cNvSpPr txBox="1"/>
            <p:nvPr/>
          </p:nvSpPr>
          <p:spPr>
            <a:xfrm>
              <a:off x="15636240" y="766267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1" i="0">
                  <a:solidFill>
                    <a:srgbClr val="B36A43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15" name="Signal"/>
            <p:cNvSpPr/>
            <p:nvPr/>
          </p:nvSpPr>
          <p:spPr>
            <a:xfrm>
              <a:off x="17172432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TextBox 15"/>
            <p:cNvSpPr txBox="1"/>
            <p:nvPr/>
          </p:nvSpPr>
          <p:spPr>
            <a:xfrm>
              <a:off x="174650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1600" b="0" i="0">
                  <a:solidFill>
                    <a:srgbClr val="9AA5B4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17" name="Attention"/>
            <p:cNvSpPr/>
            <p:nvPr/>
          </p:nvSpPr>
          <p:spPr>
            <a:xfrm>
              <a:off x="16605504" y="9171432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TextBox 17"/>
            <p:cNvSpPr txBox="1"/>
            <p:nvPr/>
          </p:nvSpPr>
          <p:spPr>
            <a:xfrm>
              <a:off x="15636240" y="9436608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19" name="Action"/>
            <p:cNvSpPr/>
            <p:nvPr/>
          </p:nvSpPr>
          <p:spPr>
            <a:xfrm>
              <a:off x="16038576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TextBox 19"/>
            <p:cNvSpPr txBox="1"/>
            <p:nvPr/>
          </p:nvSpPr>
          <p:spPr>
            <a:xfrm>
              <a:off x="147218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Action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636240" y="729691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400" b="1" i="0">
                  <a:solidFill>
                    <a:srgbClr val="9AA5B4"/>
                  </a:solidFill>
                  <a:latin typeface="Canva Sans"/>
                </a:rPr>
                <a:t>REP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Rep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Minecart does the filing</a:t>
            </a:r>
          </a:p>
        </p:txBody>
      </p:sp>
      <p:grpSp>
        <p:nvGrpSpPr>
          <p:cNvPr id="5" name="Phone screen"/>
          <p:cNvGrpSpPr/>
          <p:nvPr/>
        </p:nvGrpSpPr>
        <p:grpSpPr>
          <a:xfrm>
            <a:off x="960120" y="3246120"/>
            <a:ext cx="3311158" cy="6858000"/>
            <a:chOff x="960120" y="3246120"/>
            <a:chExt cx="3311158" cy="6858000"/>
          </a:xfrm>
        </p:grpSpPr>
        <p:sp>
          <p:nvSpPr>
            <p:cNvPr id="6" name="Frame"/>
            <p:cNvSpPr/>
            <p:nvPr/>
          </p:nvSpPr>
          <p:spPr>
            <a:xfrm>
              <a:off x="960120" y="3246120"/>
              <a:ext cx="3311158" cy="6858000"/>
            </a:xfrm>
            <a:prstGeom prst="roundRect">
              <a:avLst/>
            </a:prstGeom>
            <a:solidFill>
              <a:srgbClr val="00000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Placeholder"/>
            <p:cNvSpPr/>
            <p:nvPr/>
          </p:nvSpPr>
          <p:spPr>
            <a:xfrm>
              <a:off x="1097280" y="3383280"/>
              <a:ext cx="3036838" cy="6583680"/>
            </a:xfrm>
            <a:prstGeom prst="roundRect">
              <a:avLst/>
            </a:prstGeom>
            <a:solidFill>
              <a:srgbClr val="0F2640"/>
            </a:solidFill>
            <a:ln w="19050">
              <a:solidFill>
                <a:srgbClr val="9AA5B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TextBox 7"/>
            <p:cNvSpPr txBox="1"/>
            <p:nvPr/>
          </p:nvSpPr>
          <p:spPr>
            <a:xfrm>
              <a:off x="1097280" y="6126480"/>
              <a:ext cx="3036838" cy="10972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000" b="0" i="0">
                  <a:solidFill>
                    <a:srgbClr val="9AA5B4"/>
                  </a:solidFill>
                  <a:latin typeface="Canva Sans"/>
                </a:rPr>
                <a:t>Screen needed</a:t>
              </a:r>
            </a:p>
            <a:p>
              <a:pPr algn="ctr"/>
              <a:r>
                <a:rPr sz="2000" b="0" i="0">
                  <a:solidFill>
                    <a:srgbClr val="9AA5B4"/>
                  </a:solidFill>
                  <a:latin typeface="Canva Sans"/>
                </a:rPr>
                <a:t>Filed note: contact, opportunity, follow-up, CRM fields</a:t>
              </a:r>
            </a:p>
          </p:txBody>
        </p:sp>
      </p:grpSp>
      <p:sp>
        <p:nvSpPr>
          <p:cNvPr id="9" name="Bullets"/>
          <p:cNvSpPr txBox="1"/>
          <p:nvPr/>
        </p:nvSpPr>
        <p:spPr>
          <a:xfrm>
            <a:off x="4957078" y="365760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Filed to the right account and contact.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Opportunities and risks pulled out and named.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Follow-ups created. CRM fields written back.</a:t>
            </a:r>
          </a:p>
        </p:txBody>
      </p:sp>
      <p:sp>
        <p:nvSpPr>
          <p:cNvPr id="10" name="Gets back label"/>
          <p:cNvSpPr txBox="1"/>
          <p:nvPr/>
        </p:nvSpPr>
        <p:spPr>
          <a:xfrm>
            <a:off x="4957078" y="81381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9AA5B4"/>
                </a:solidFill>
                <a:latin typeface="Canva Sans"/>
              </a:rPr>
              <a:t>What the rep gets back</a:t>
            </a:r>
          </a:p>
        </p:txBody>
      </p:sp>
      <p:sp>
        <p:nvSpPr>
          <p:cNvPr id="11" name="Gets back"/>
          <p:cNvSpPr txBox="1"/>
          <p:nvPr/>
        </p:nvSpPr>
        <p:spPr>
          <a:xfrm>
            <a:off x="4957078" y="859536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B36A43"/>
                </a:solidFill>
                <a:latin typeface="Canva Sans"/>
              </a:rPr>
              <a:t>No cleanup at night.</a:t>
            </a:r>
          </a:p>
        </p:txBody>
      </p:sp>
      <p:grpSp>
        <p:nvGrpSpPr>
          <p:cNvPr id="12" name="Loop marker"/>
          <p:cNvGrpSpPr/>
          <p:nvPr/>
        </p:nvGrpSpPr>
        <p:grpSpPr>
          <a:xfrm>
            <a:off x="14721840" y="7296912"/>
            <a:ext cx="4023360" cy="2505456"/>
            <a:chOff x="14721840" y="7296912"/>
            <a:chExt cx="4023360" cy="2505456"/>
          </a:xfrm>
        </p:grpSpPr>
        <p:sp>
          <p:nvSpPr>
            <p:cNvPr id="13" name="Ring"/>
            <p:cNvSpPr/>
            <p:nvPr/>
          </p:nvSpPr>
          <p:spPr>
            <a:xfrm>
              <a:off x="16166592" y="8165592"/>
              <a:ext cx="1133856" cy="1133856"/>
            </a:xfrm>
            <a:prstGeom prst="ellipse">
              <a:avLst/>
            </a:prstGeom>
            <a:noFill/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Capture"/>
            <p:cNvSpPr/>
            <p:nvPr/>
          </p:nvSpPr>
          <p:spPr>
            <a:xfrm>
              <a:off x="16605504" y="8037576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TextBox 14"/>
            <p:cNvSpPr txBox="1"/>
            <p:nvPr/>
          </p:nvSpPr>
          <p:spPr>
            <a:xfrm>
              <a:off x="15636240" y="766267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16" name="Signal"/>
            <p:cNvSpPr/>
            <p:nvPr/>
          </p:nvSpPr>
          <p:spPr>
            <a:xfrm>
              <a:off x="17172432" y="8604504"/>
              <a:ext cx="256032" cy="256032"/>
            </a:xfrm>
            <a:prstGeom prst="ellipse">
              <a:avLst/>
            </a:prstGeom>
            <a:solidFill>
              <a:srgbClr val="B36A43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TextBox 16"/>
            <p:cNvSpPr txBox="1"/>
            <p:nvPr/>
          </p:nvSpPr>
          <p:spPr>
            <a:xfrm>
              <a:off x="174650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1600" b="1" i="0">
                  <a:solidFill>
                    <a:srgbClr val="B36A43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18" name="Attention"/>
            <p:cNvSpPr/>
            <p:nvPr/>
          </p:nvSpPr>
          <p:spPr>
            <a:xfrm>
              <a:off x="16605504" y="9171432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TextBox 18"/>
            <p:cNvSpPr txBox="1"/>
            <p:nvPr/>
          </p:nvSpPr>
          <p:spPr>
            <a:xfrm>
              <a:off x="15636240" y="9436608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20" name="Action"/>
            <p:cNvSpPr/>
            <p:nvPr/>
          </p:nvSpPr>
          <p:spPr>
            <a:xfrm>
              <a:off x="16038576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TextBox 20"/>
            <p:cNvSpPr txBox="1"/>
            <p:nvPr/>
          </p:nvSpPr>
          <p:spPr>
            <a:xfrm>
              <a:off x="147218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Action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636240" y="729691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400" b="1" i="0">
                  <a:solidFill>
                    <a:srgbClr val="9AA5B4"/>
                  </a:solidFill>
                  <a:latin typeface="Canva Sans"/>
                </a:rPr>
                <a:t>REP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Rep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What needs you</a:t>
            </a:r>
          </a:p>
        </p:txBody>
      </p:sp>
      <p:grpSp>
        <p:nvGrpSpPr>
          <p:cNvPr id="5" name="Phone screen"/>
          <p:cNvGrpSpPr/>
          <p:nvPr/>
        </p:nvGrpSpPr>
        <p:grpSpPr>
          <a:xfrm>
            <a:off x="960120" y="3246120"/>
            <a:ext cx="3311158" cy="6858000"/>
            <a:chOff x="960120" y="3246120"/>
            <a:chExt cx="3311158" cy="6858000"/>
          </a:xfrm>
        </p:grpSpPr>
        <p:sp>
          <p:nvSpPr>
            <p:cNvPr id="6" name="Frame"/>
            <p:cNvSpPr/>
            <p:nvPr/>
          </p:nvSpPr>
          <p:spPr>
            <a:xfrm>
              <a:off x="960120" y="3246120"/>
              <a:ext cx="3311158" cy="6858000"/>
            </a:xfrm>
            <a:prstGeom prst="roundRect">
              <a:avLst/>
            </a:prstGeom>
            <a:solidFill>
              <a:srgbClr val="00000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7" name="Screenshot" descr="rep-account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3383280"/>
              <a:ext cx="3036838" cy="6583680"/>
            </a:xfrm>
            <a:prstGeom prst="rect">
              <a:avLst/>
            </a:prstGeom>
          </p:spPr>
        </p:pic>
      </p:grpSp>
      <p:sp>
        <p:nvSpPr>
          <p:cNvPr id="8" name="Bullets"/>
          <p:cNvSpPr txBox="1"/>
          <p:nvPr/>
        </p:nvSpPr>
        <p:spPr>
          <a:xfrm>
            <a:off x="4957078" y="365760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Accounts that need attention, ranked.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Follow-ups due. Accounts gone quiet.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Sorted by where the rep is standing.</a:t>
            </a:r>
          </a:p>
        </p:txBody>
      </p:sp>
      <p:sp>
        <p:nvSpPr>
          <p:cNvPr id="9" name="Gets back label"/>
          <p:cNvSpPr txBox="1"/>
          <p:nvPr/>
        </p:nvSpPr>
        <p:spPr>
          <a:xfrm>
            <a:off x="4957078" y="81381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9AA5B4"/>
                </a:solidFill>
                <a:latin typeface="Canva Sans"/>
              </a:rPr>
              <a:t>What the rep gets back</a:t>
            </a:r>
          </a:p>
        </p:txBody>
      </p:sp>
      <p:sp>
        <p:nvSpPr>
          <p:cNvPr id="10" name="Gets back"/>
          <p:cNvSpPr txBox="1"/>
          <p:nvPr/>
        </p:nvSpPr>
        <p:spPr>
          <a:xfrm>
            <a:off x="4957078" y="859536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B36A43"/>
                </a:solidFill>
                <a:latin typeface="Canva Sans"/>
              </a:rPr>
              <a:t>Nothing slips.</a:t>
            </a:r>
          </a:p>
        </p:txBody>
      </p:sp>
      <p:grpSp>
        <p:nvGrpSpPr>
          <p:cNvPr id="11" name="Loop marker"/>
          <p:cNvGrpSpPr/>
          <p:nvPr/>
        </p:nvGrpSpPr>
        <p:grpSpPr>
          <a:xfrm>
            <a:off x="14721840" y="7296912"/>
            <a:ext cx="4023360" cy="2505456"/>
            <a:chOff x="14721840" y="7296912"/>
            <a:chExt cx="4023360" cy="2505456"/>
          </a:xfrm>
        </p:grpSpPr>
        <p:sp>
          <p:nvSpPr>
            <p:cNvPr id="12" name="Ring"/>
            <p:cNvSpPr/>
            <p:nvPr/>
          </p:nvSpPr>
          <p:spPr>
            <a:xfrm>
              <a:off x="16166592" y="8165592"/>
              <a:ext cx="1133856" cy="1133856"/>
            </a:xfrm>
            <a:prstGeom prst="ellipse">
              <a:avLst/>
            </a:prstGeom>
            <a:noFill/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Capture"/>
            <p:cNvSpPr/>
            <p:nvPr/>
          </p:nvSpPr>
          <p:spPr>
            <a:xfrm>
              <a:off x="16605504" y="8037576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TextBox 13"/>
            <p:cNvSpPr txBox="1"/>
            <p:nvPr/>
          </p:nvSpPr>
          <p:spPr>
            <a:xfrm>
              <a:off x="15636240" y="766267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15" name="Signal"/>
            <p:cNvSpPr/>
            <p:nvPr/>
          </p:nvSpPr>
          <p:spPr>
            <a:xfrm>
              <a:off x="17172432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TextBox 15"/>
            <p:cNvSpPr txBox="1"/>
            <p:nvPr/>
          </p:nvSpPr>
          <p:spPr>
            <a:xfrm>
              <a:off x="174650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1600" b="0" i="0">
                  <a:solidFill>
                    <a:srgbClr val="9AA5B4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17" name="Attention"/>
            <p:cNvSpPr/>
            <p:nvPr/>
          </p:nvSpPr>
          <p:spPr>
            <a:xfrm>
              <a:off x="16605504" y="9171432"/>
              <a:ext cx="256032" cy="256032"/>
            </a:xfrm>
            <a:prstGeom prst="ellipse">
              <a:avLst/>
            </a:prstGeom>
            <a:solidFill>
              <a:srgbClr val="B36A43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TextBox 17"/>
            <p:cNvSpPr txBox="1"/>
            <p:nvPr/>
          </p:nvSpPr>
          <p:spPr>
            <a:xfrm>
              <a:off x="15636240" y="9436608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1" i="0">
                  <a:solidFill>
                    <a:srgbClr val="B36A43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19" name="Action"/>
            <p:cNvSpPr/>
            <p:nvPr/>
          </p:nvSpPr>
          <p:spPr>
            <a:xfrm>
              <a:off x="16038576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TextBox 19"/>
            <p:cNvSpPr txBox="1"/>
            <p:nvPr/>
          </p:nvSpPr>
          <p:spPr>
            <a:xfrm>
              <a:off x="147218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Action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636240" y="729691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400" b="1" i="0">
                  <a:solidFill>
                    <a:srgbClr val="9AA5B4"/>
                  </a:solidFill>
                  <a:latin typeface="Canva Sans"/>
                </a:rPr>
                <a:t>REP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Rep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Build the week</a:t>
            </a:r>
          </a:p>
        </p:txBody>
      </p:sp>
      <p:grpSp>
        <p:nvGrpSpPr>
          <p:cNvPr id="5" name="Phone screen"/>
          <p:cNvGrpSpPr/>
          <p:nvPr/>
        </p:nvGrpSpPr>
        <p:grpSpPr>
          <a:xfrm>
            <a:off x="960120" y="3246120"/>
            <a:ext cx="3311158" cy="6858000"/>
            <a:chOff x="960120" y="3246120"/>
            <a:chExt cx="3311158" cy="6858000"/>
          </a:xfrm>
        </p:grpSpPr>
        <p:sp>
          <p:nvSpPr>
            <p:cNvPr id="6" name="Frame"/>
            <p:cNvSpPr/>
            <p:nvPr/>
          </p:nvSpPr>
          <p:spPr>
            <a:xfrm>
              <a:off x="960120" y="3246120"/>
              <a:ext cx="3311158" cy="6858000"/>
            </a:xfrm>
            <a:prstGeom prst="roundRect">
              <a:avLst/>
            </a:prstGeom>
            <a:solidFill>
              <a:srgbClr val="00000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Placeholder"/>
            <p:cNvSpPr/>
            <p:nvPr/>
          </p:nvSpPr>
          <p:spPr>
            <a:xfrm>
              <a:off x="1097280" y="3383280"/>
              <a:ext cx="3036838" cy="6583680"/>
            </a:xfrm>
            <a:prstGeom prst="roundRect">
              <a:avLst/>
            </a:prstGeom>
            <a:solidFill>
              <a:srgbClr val="0F2640"/>
            </a:solidFill>
            <a:ln w="19050">
              <a:solidFill>
                <a:srgbClr val="9AA5B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TextBox 7"/>
            <p:cNvSpPr txBox="1"/>
            <p:nvPr/>
          </p:nvSpPr>
          <p:spPr>
            <a:xfrm>
              <a:off x="1097280" y="6126480"/>
              <a:ext cx="3036838" cy="10972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000" b="0" i="0">
                  <a:solidFill>
                    <a:srgbClr val="9AA5B4"/>
                  </a:solidFill>
                  <a:latin typeface="Canva Sans"/>
                </a:rPr>
                <a:t>Screen needed</a:t>
              </a:r>
            </a:p>
            <a:p>
              <a:pPr algn="ctr"/>
              <a:r>
                <a:rPr sz="2000" b="0" i="0">
                  <a:solidFill>
                    <a:srgbClr val="9AA5B4"/>
                  </a:solidFill>
                  <a:latin typeface="Canva Sans"/>
                </a:rPr>
                <a:t>Lists and filters: due follow-ups, accounts to watch, programs</a:t>
              </a:r>
            </a:p>
          </p:txBody>
        </p:sp>
      </p:grpSp>
      <p:sp>
        <p:nvSpPr>
          <p:cNvPr id="9" name="Bullets"/>
          <p:cNvSpPr txBox="1"/>
          <p:nvPr/>
        </p:nvSpPr>
        <p:spPr>
          <a:xfrm>
            <a:off x="4957078" y="365760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Start from what is due and who is at risk.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Filter by program, tier, last visit, area.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A note today becomes a follow-up on the right day.</a:t>
            </a:r>
          </a:p>
        </p:txBody>
      </p:sp>
      <p:sp>
        <p:nvSpPr>
          <p:cNvPr id="10" name="Gets back label"/>
          <p:cNvSpPr txBox="1"/>
          <p:nvPr/>
        </p:nvSpPr>
        <p:spPr>
          <a:xfrm>
            <a:off x="4957078" y="81381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9AA5B4"/>
                </a:solidFill>
                <a:latin typeface="Canva Sans"/>
              </a:rPr>
              <a:t>What the rep gets back</a:t>
            </a:r>
          </a:p>
        </p:txBody>
      </p:sp>
      <p:sp>
        <p:nvSpPr>
          <p:cNvPr id="11" name="Gets back"/>
          <p:cNvSpPr txBox="1"/>
          <p:nvPr/>
        </p:nvSpPr>
        <p:spPr>
          <a:xfrm>
            <a:off x="4957078" y="859536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B36A43"/>
                </a:solidFill>
                <a:latin typeface="Canva Sans"/>
              </a:rPr>
              <a:t>A plan built from their own notes.</a:t>
            </a:r>
          </a:p>
        </p:txBody>
      </p:sp>
      <p:grpSp>
        <p:nvGrpSpPr>
          <p:cNvPr id="12" name="Loop marker"/>
          <p:cNvGrpSpPr/>
          <p:nvPr/>
        </p:nvGrpSpPr>
        <p:grpSpPr>
          <a:xfrm>
            <a:off x="14721840" y="7296912"/>
            <a:ext cx="4023360" cy="2505456"/>
            <a:chOff x="14721840" y="7296912"/>
            <a:chExt cx="4023360" cy="2505456"/>
          </a:xfrm>
        </p:grpSpPr>
        <p:sp>
          <p:nvSpPr>
            <p:cNvPr id="13" name="Ring"/>
            <p:cNvSpPr/>
            <p:nvPr/>
          </p:nvSpPr>
          <p:spPr>
            <a:xfrm>
              <a:off x="16166592" y="8165592"/>
              <a:ext cx="1133856" cy="1133856"/>
            </a:xfrm>
            <a:prstGeom prst="ellipse">
              <a:avLst/>
            </a:prstGeom>
            <a:noFill/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Capture"/>
            <p:cNvSpPr/>
            <p:nvPr/>
          </p:nvSpPr>
          <p:spPr>
            <a:xfrm>
              <a:off x="16605504" y="8037576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TextBox 14"/>
            <p:cNvSpPr txBox="1"/>
            <p:nvPr/>
          </p:nvSpPr>
          <p:spPr>
            <a:xfrm>
              <a:off x="15636240" y="766267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16" name="Signal"/>
            <p:cNvSpPr/>
            <p:nvPr/>
          </p:nvSpPr>
          <p:spPr>
            <a:xfrm>
              <a:off x="17172432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TextBox 16"/>
            <p:cNvSpPr txBox="1"/>
            <p:nvPr/>
          </p:nvSpPr>
          <p:spPr>
            <a:xfrm>
              <a:off x="174650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1600" b="0" i="0">
                  <a:solidFill>
                    <a:srgbClr val="9AA5B4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18" name="Attention"/>
            <p:cNvSpPr/>
            <p:nvPr/>
          </p:nvSpPr>
          <p:spPr>
            <a:xfrm>
              <a:off x="16605504" y="9171432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TextBox 18"/>
            <p:cNvSpPr txBox="1"/>
            <p:nvPr/>
          </p:nvSpPr>
          <p:spPr>
            <a:xfrm>
              <a:off x="15636240" y="9436608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20" name="Action"/>
            <p:cNvSpPr/>
            <p:nvPr/>
          </p:nvSpPr>
          <p:spPr>
            <a:xfrm>
              <a:off x="16038576" y="8604504"/>
              <a:ext cx="256032" cy="256032"/>
            </a:xfrm>
            <a:prstGeom prst="ellipse">
              <a:avLst/>
            </a:prstGeom>
            <a:solidFill>
              <a:srgbClr val="B36A43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TextBox 20"/>
            <p:cNvSpPr txBox="1"/>
            <p:nvPr/>
          </p:nvSpPr>
          <p:spPr>
            <a:xfrm>
              <a:off x="147218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1600" b="1" i="0">
                  <a:solidFill>
                    <a:srgbClr val="B36A43"/>
                  </a:solidFill>
                  <a:latin typeface="Canva Sans"/>
                </a:rPr>
                <a:t>Action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636240" y="729691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400" b="1" i="0">
                  <a:solidFill>
                    <a:srgbClr val="9AA5B4"/>
                  </a:solidFill>
                  <a:latin typeface="Canva Sans"/>
                </a:rPr>
                <a:t>REP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Rep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In the truck: the briefing</a:t>
            </a:r>
          </a:p>
        </p:txBody>
      </p:sp>
      <p:grpSp>
        <p:nvGrpSpPr>
          <p:cNvPr id="5" name="Phone screen"/>
          <p:cNvGrpSpPr/>
          <p:nvPr/>
        </p:nvGrpSpPr>
        <p:grpSpPr>
          <a:xfrm>
            <a:off x="960120" y="3246120"/>
            <a:ext cx="3311158" cy="6858000"/>
            <a:chOff x="960120" y="3246120"/>
            <a:chExt cx="3311158" cy="6858000"/>
          </a:xfrm>
        </p:grpSpPr>
        <p:sp>
          <p:nvSpPr>
            <p:cNvPr id="6" name="Frame"/>
            <p:cNvSpPr/>
            <p:nvPr/>
          </p:nvSpPr>
          <p:spPr>
            <a:xfrm>
              <a:off x="960120" y="3246120"/>
              <a:ext cx="3311158" cy="6858000"/>
            </a:xfrm>
            <a:prstGeom prst="roundRect">
              <a:avLst/>
            </a:prstGeom>
            <a:solidFill>
              <a:srgbClr val="00000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7" name="Screenshot" descr="rep-briefin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3383280"/>
              <a:ext cx="3036838" cy="6583680"/>
            </a:xfrm>
            <a:prstGeom prst="rect">
              <a:avLst/>
            </a:prstGeom>
          </p:spPr>
        </p:pic>
      </p:grpSp>
      <p:sp>
        <p:nvSpPr>
          <p:cNvPr id="8" name="Bullets"/>
          <p:cNvSpPr txBox="1"/>
          <p:nvPr/>
        </p:nvSpPr>
        <p:spPr>
          <a:xfrm>
            <a:off x="4957078" y="365760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Who they are, what they buy, what was said last time.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Opportunities and risks at the top.</a:t>
            </a:r>
          </a:p>
          <a:p>
            <a:pPr marL="457200" indent="-457200">
              <a:spcAft>
                <a:spcPts val="2160"/>
              </a:spcAft>
              <a:buClr>
                <a:srgbClr val="B36A43"/>
              </a:buClr>
              <a:buChar char="•"/>
            </a:pPr>
            <a:r>
              <a:rPr sz="3800">
                <a:solidFill>
                  <a:srgbClr val="FFFFFF"/>
                </a:solidFill>
                <a:latin typeface="Canva Sans"/>
              </a:rPr>
              <a:t>The one thing to raise when they walk in.</a:t>
            </a:r>
          </a:p>
        </p:txBody>
      </p:sp>
      <p:sp>
        <p:nvSpPr>
          <p:cNvPr id="9" name="Gets back label"/>
          <p:cNvSpPr txBox="1"/>
          <p:nvPr/>
        </p:nvSpPr>
        <p:spPr>
          <a:xfrm>
            <a:off x="4957078" y="81381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9AA5B4"/>
                </a:solidFill>
                <a:latin typeface="Canva Sans"/>
              </a:rPr>
              <a:t>What the rep gets back</a:t>
            </a:r>
          </a:p>
        </p:txBody>
      </p:sp>
      <p:sp>
        <p:nvSpPr>
          <p:cNvPr id="10" name="Gets back"/>
          <p:cNvSpPr txBox="1"/>
          <p:nvPr/>
        </p:nvSpPr>
        <p:spPr>
          <a:xfrm>
            <a:off x="4957078" y="859536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B36A43"/>
                </a:solidFill>
                <a:latin typeface="Canva Sans"/>
              </a:rPr>
              <a:t>The relationship.</a:t>
            </a:r>
          </a:p>
        </p:txBody>
      </p:sp>
      <p:grpSp>
        <p:nvGrpSpPr>
          <p:cNvPr id="11" name="Loop marker"/>
          <p:cNvGrpSpPr/>
          <p:nvPr/>
        </p:nvGrpSpPr>
        <p:grpSpPr>
          <a:xfrm>
            <a:off x="14721840" y="7296912"/>
            <a:ext cx="4023360" cy="2505456"/>
            <a:chOff x="14721840" y="7296912"/>
            <a:chExt cx="4023360" cy="2505456"/>
          </a:xfrm>
        </p:grpSpPr>
        <p:sp>
          <p:nvSpPr>
            <p:cNvPr id="12" name="Ring"/>
            <p:cNvSpPr/>
            <p:nvPr/>
          </p:nvSpPr>
          <p:spPr>
            <a:xfrm>
              <a:off x="16166592" y="8165592"/>
              <a:ext cx="1133856" cy="1133856"/>
            </a:xfrm>
            <a:prstGeom prst="ellipse">
              <a:avLst/>
            </a:prstGeom>
            <a:noFill/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Capture"/>
            <p:cNvSpPr/>
            <p:nvPr/>
          </p:nvSpPr>
          <p:spPr>
            <a:xfrm>
              <a:off x="16605504" y="8037576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TextBox 13"/>
            <p:cNvSpPr txBox="1"/>
            <p:nvPr/>
          </p:nvSpPr>
          <p:spPr>
            <a:xfrm>
              <a:off x="15636240" y="766267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15" name="Signal"/>
            <p:cNvSpPr/>
            <p:nvPr/>
          </p:nvSpPr>
          <p:spPr>
            <a:xfrm>
              <a:off x="17172432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TextBox 15"/>
            <p:cNvSpPr txBox="1"/>
            <p:nvPr/>
          </p:nvSpPr>
          <p:spPr>
            <a:xfrm>
              <a:off x="174650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1600" b="0" i="0">
                  <a:solidFill>
                    <a:srgbClr val="9AA5B4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17" name="Attention"/>
            <p:cNvSpPr/>
            <p:nvPr/>
          </p:nvSpPr>
          <p:spPr>
            <a:xfrm>
              <a:off x="16605504" y="9171432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TextBox 17"/>
            <p:cNvSpPr txBox="1"/>
            <p:nvPr/>
          </p:nvSpPr>
          <p:spPr>
            <a:xfrm>
              <a:off x="15636240" y="9436608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19" name="Action"/>
            <p:cNvSpPr/>
            <p:nvPr/>
          </p:nvSpPr>
          <p:spPr>
            <a:xfrm>
              <a:off x="16038576" y="8604504"/>
              <a:ext cx="256032" cy="256032"/>
            </a:xfrm>
            <a:prstGeom prst="ellipse">
              <a:avLst/>
            </a:prstGeom>
            <a:solidFill>
              <a:srgbClr val="B36A43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TextBox 19"/>
            <p:cNvSpPr txBox="1"/>
            <p:nvPr/>
          </p:nvSpPr>
          <p:spPr>
            <a:xfrm>
              <a:off x="147218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1600" b="1" i="0">
                  <a:solidFill>
                    <a:srgbClr val="B36A43"/>
                  </a:solidFill>
                  <a:latin typeface="Canva Sans"/>
                </a:rPr>
                <a:t>Action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636240" y="729691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400" b="1" i="0">
                  <a:solidFill>
                    <a:srgbClr val="9AA5B4"/>
                  </a:solidFill>
                  <a:latin typeface="Canva Sans"/>
                </a:rPr>
                <a:t>REP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Manager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See the field without chasing it</a:t>
            </a:r>
          </a:p>
        </p:txBody>
      </p:sp>
      <p:grpSp>
        <p:nvGrpSpPr>
          <p:cNvPr id="5" name="Web screen"/>
          <p:cNvGrpSpPr/>
          <p:nvPr/>
        </p:nvGrpSpPr>
        <p:grpSpPr>
          <a:xfrm>
            <a:off x="822960" y="3474720"/>
            <a:ext cx="9692640" cy="4702677"/>
            <a:chOff x="822960" y="3474720"/>
            <a:chExt cx="9692640" cy="4702677"/>
          </a:xfrm>
        </p:grpSpPr>
        <p:sp>
          <p:nvSpPr>
            <p:cNvPr id="6" name="Frame"/>
            <p:cNvSpPr/>
            <p:nvPr/>
          </p:nvSpPr>
          <p:spPr>
            <a:xfrm>
              <a:off x="822960" y="3474720"/>
              <a:ext cx="9692640" cy="4702677"/>
            </a:xfrm>
            <a:prstGeom prst="roundRect">
              <a:avLst/>
            </a:prstGeom>
            <a:solidFill>
              <a:srgbClr val="2A3644"/>
            </a:solidFill>
            <a:ln w="1905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Oval 6"/>
            <p:cNvSpPr/>
            <p:nvPr/>
          </p:nvSpPr>
          <p:spPr>
            <a:xfrm>
              <a:off x="1051560" y="3630168"/>
              <a:ext cx="137160" cy="13716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Oval 7"/>
            <p:cNvSpPr/>
            <p:nvPr/>
          </p:nvSpPr>
          <p:spPr>
            <a:xfrm>
              <a:off x="1280160" y="3630168"/>
              <a:ext cx="137160" cy="13716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Oval 8"/>
            <p:cNvSpPr/>
            <p:nvPr/>
          </p:nvSpPr>
          <p:spPr>
            <a:xfrm>
              <a:off x="1508760" y="3630168"/>
              <a:ext cx="137160" cy="13716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10" name="Screenshot" descr="manager-note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3931920"/>
              <a:ext cx="9692640" cy="4245477"/>
            </a:xfrm>
            <a:prstGeom prst="rect">
              <a:avLst/>
            </a:prstGeom>
          </p:spPr>
        </p:pic>
      </p:grpSp>
      <p:sp>
        <p:nvSpPr>
          <p:cNvPr id="11" name="Bullets"/>
          <p:cNvSpPr txBox="1"/>
          <p:nvPr/>
        </p:nvSpPr>
        <p:spPr>
          <a:xfrm>
            <a:off x="10972800" y="36576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Every rep's week, by account, in one read.</a:t>
            </a:r>
          </a:p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The notes that matter, and why.</a:t>
            </a:r>
          </a:p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No Friday recap. No "good visit."</a:t>
            </a:r>
          </a:p>
        </p:txBody>
      </p:sp>
      <p:sp>
        <p:nvSpPr>
          <p:cNvPr id="12" name="Gets back label"/>
          <p:cNvSpPr txBox="1"/>
          <p:nvPr/>
        </p:nvSpPr>
        <p:spPr>
          <a:xfrm>
            <a:off x="10972800" y="813816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9AA5B4"/>
                </a:solidFill>
                <a:latin typeface="Canva Sans"/>
              </a:rPr>
              <a:t>What the manager gets back</a:t>
            </a:r>
          </a:p>
        </p:txBody>
      </p:sp>
      <p:sp>
        <p:nvSpPr>
          <p:cNvPr id="13" name="Gets back"/>
          <p:cNvSpPr txBox="1"/>
          <p:nvPr/>
        </p:nvSpPr>
        <p:spPr>
          <a:xfrm>
            <a:off x="10972800" y="8595360"/>
            <a:ext cx="49377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B36A43"/>
                </a:solidFill>
                <a:latin typeface="Canva Sans"/>
              </a:rPr>
              <a:t>Monday.</a:t>
            </a:r>
          </a:p>
        </p:txBody>
      </p:sp>
      <p:grpSp>
        <p:nvGrpSpPr>
          <p:cNvPr id="14" name="Loop marker"/>
          <p:cNvGrpSpPr/>
          <p:nvPr/>
        </p:nvGrpSpPr>
        <p:grpSpPr>
          <a:xfrm>
            <a:off x="14721840" y="7296912"/>
            <a:ext cx="4023360" cy="2505456"/>
            <a:chOff x="14721840" y="7296912"/>
            <a:chExt cx="4023360" cy="2505456"/>
          </a:xfrm>
        </p:grpSpPr>
        <p:sp>
          <p:nvSpPr>
            <p:cNvPr id="15" name="Ring"/>
            <p:cNvSpPr/>
            <p:nvPr/>
          </p:nvSpPr>
          <p:spPr>
            <a:xfrm>
              <a:off x="16166592" y="8165592"/>
              <a:ext cx="1133856" cy="1133856"/>
            </a:xfrm>
            <a:prstGeom prst="ellipse">
              <a:avLst/>
            </a:prstGeom>
            <a:noFill/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Capture"/>
            <p:cNvSpPr/>
            <p:nvPr/>
          </p:nvSpPr>
          <p:spPr>
            <a:xfrm>
              <a:off x="16605504" y="8037576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TextBox 16"/>
            <p:cNvSpPr txBox="1"/>
            <p:nvPr/>
          </p:nvSpPr>
          <p:spPr>
            <a:xfrm>
              <a:off x="15636240" y="766267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18" name="Signal"/>
            <p:cNvSpPr/>
            <p:nvPr/>
          </p:nvSpPr>
          <p:spPr>
            <a:xfrm>
              <a:off x="17172432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TextBox 18"/>
            <p:cNvSpPr txBox="1"/>
            <p:nvPr/>
          </p:nvSpPr>
          <p:spPr>
            <a:xfrm>
              <a:off x="174650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1600" b="0" i="0">
                  <a:solidFill>
                    <a:srgbClr val="9AA5B4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20" name="Attention"/>
            <p:cNvSpPr/>
            <p:nvPr/>
          </p:nvSpPr>
          <p:spPr>
            <a:xfrm>
              <a:off x="16605504" y="9171432"/>
              <a:ext cx="256032" cy="256032"/>
            </a:xfrm>
            <a:prstGeom prst="ellipse">
              <a:avLst/>
            </a:prstGeom>
            <a:solidFill>
              <a:srgbClr val="B36A43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TextBox 20"/>
            <p:cNvSpPr txBox="1"/>
            <p:nvPr/>
          </p:nvSpPr>
          <p:spPr>
            <a:xfrm>
              <a:off x="15636240" y="9436608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1" i="0">
                  <a:solidFill>
                    <a:srgbClr val="B36A43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22" name="Action"/>
            <p:cNvSpPr/>
            <p:nvPr/>
          </p:nvSpPr>
          <p:spPr>
            <a:xfrm>
              <a:off x="16038576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3" name="TextBox 22"/>
            <p:cNvSpPr txBox="1"/>
            <p:nvPr/>
          </p:nvSpPr>
          <p:spPr>
            <a:xfrm>
              <a:off x="147218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Action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636240" y="729691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400" b="1" i="0">
                  <a:solidFill>
                    <a:srgbClr val="9AA5B4"/>
                  </a:solidFill>
                  <a:latin typeface="Canva Sans"/>
                </a:rPr>
                <a:t>MANAGER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Manager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Drill in</a:t>
            </a:r>
          </a:p>
        </p:txBody>
      </p:sp>
      <p:grpSp>
        <p:nvGrpSpPr>
          <p:cNvPr id="5" name="Web screen"/>
          <p:cNvGrpSpPr/>
          <p:nvPr/>
        </p:nvGrpSpPr>
        <p:grpSpPr>
          <a:xfrm>
            <a:off x="822960" y="3474720"/>
            <a:ext cx="9692640" cy="5035632"/>
            <a:chOff x="822960" y="3474720"/>
            <a:chExt cx="9692640" cy="5035632"/>
          </a:xfrm>
        </p:grpSpPr>
        <p:sp>
          <p:nvSpPr>
            <p:cNvPr id="6" name="Frame"/>
            <p:cNvSpPr/>
            <p:nvPr/>
          </p:nvSpPr>
          <p:spPr>
            <a:xfrm>
              <a:off x="822960" y="3474720"/>
              <a:ext cx="9692640" cy="5035632"/>
            </a:xfrm>
            <a:prstGeom prst="roundRect">
              <a:avLst/>
            </a:prstGeom>
            <a:solidFill>
              <a:srgbClr val="2A3644"/>
            </a:solidFill>
            <a:ln w="1905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Oval 6"/>
            <p:cNvSpPr/>
            <p:nvPr/>
          </p:nvSpPr>
          <p:spPr>
            <a:xfrm>
              <a:off x="1051560" y="3630168"/>
              <a:ext cx="137160" cy="13716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Oval 7"/>
            <p:cNvSpPr/>
            <p:nvPr/>
          </p:nvSpPr>
          <p:spPr>
            <a:xfrm>
              <a:off x="1280160" y="3630168"/>
              <a:ext cx="137160" cy="13716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Oval 8"/>
            <p:cNvSpPr/>
            <p:nvPr/>
          </p:nvSpPr>
          <p:spPr>
            <a:xfrm>
              <a:off x="1508760" y="3630168"/>
              <a:ext cx="137160" cy="13716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10" name="Screenshot" descr="manager-opportunity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3931920"/>
              <a:ext cx="9692640" cy="4578432"/>
            </a:xfrm>
            <a:prstGeom prst="rect">
              <a:avLst/>
            </a:prstGeom>
          </p:spPr>
        </p:pic>
      </p:grpSp>
      <p:sp>
        <p:nvSpPr>
          <p:cNvPr id="11" name="Bullets"/>
          <p:cNvSpPr txBox="1"/>
          <p:nvPr/>
        </p:nvSpPr>
        <p:spPr>
          <a:xfrm>
            <a:off x="10972800" y="36576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The conversation history behind every account.</a:t>
            </a:r>
          </a:p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Every opportunity traced to the note that found it.</a:t>
            </a:r>
          </a:p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Leave a note that reaches the rep before the visit.</a:t>
            </a:r>
          </a:p>
        </p:txBody>
      </p:sp>
      <p:sp>
        <p:nvSpPr>
          <p:cNvPr id="12" name="Gets back label"/>
          <p:cNvSpPr txBox="1"/>
          <p:nvPr/>
        </p:nvSpPr>
        <p:spPr>
          <a:xfrm>
            <a:off x="10972800" y="813816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9AA5B4"/>
                </a:solidFill>
                <a:latin typeface="Canva Sans"/>
              </a:rPr>
              <a:t>What the manager gets back</a:t>
            </a:r>
          </a:p>
        </p:txBody>
      </p:sp>
      <p:sp>
        <p:nvSpPr>
          <p:cNvPr id="13" name="Gets back"/>
          <p:cNvSpPr txBox="1"/>
          <p:nvPr/>
        </p:nvSpPr>
        <p:spPr>
          <a:xfrm>
            <a:off x="10972800" y="8595360"/>
            <a:ext cx="49377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B36A43"/>
                </a:solidFill>
                <a:latin typeface="Canva Sans"/>
              </a:rPr>
              <a:t>The whole story.</a:t>
            </a:r>
          </a:p>
        </p:txBody>
      </p:sp>
      <p:grpSp>
        <p:nvGrpSpPr>
          <p:cNvPr id="14" name="Loop marker"/>
          <p:cNvGrpSpPr/>
          <p:nvPr/>
        </p:nvGrpSpPr>
        <p:grpSpPr>
          <a:xfrm>
            <a:off x="14721840" y="7296912"/>
            <a:ext cx="4023360" cy="2505456"/>
            <a:chOff x="14721840" y="7296912"/>
            <a:chExt cx="4023360" cy="2505456"/>
          </a:xfrm>
        </p:grpSpPr>
        <p:sp>
          <p:nvSpPr>
            <p:cNvPr id="15" name="Ring"/>
            <p:cNvSpPr/>
            <p:nvPr/>
          </p:nvSpPr>
          <p:spPr>
            <a:xfrm>
              <a:off x="16166592" y="8165592"/>
              <a:ext cx="1133856" cy="1133856"/>
            </a:xfrm>
            <a:prstGeom prst="ellipse">
              <a:avLst/>
            </a:prstGeom>
            <a:noFill/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Capture"/>
            <p:cNvSpPr/>
            <p:nvPr/>
          </p:nvSpPr>
          <p:spPr>
            <a:xfrm>
              <a:off x="16605504" y="8037576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TextBox 16"/>
            <p:cNvSpPr txBox="1"/>
            <p:nvPr/>
          </p:nvSpPr>
          <p:spPr>
            <a:xfrm>
              <a:off x="15636240" y="766267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18" name="Signal"/>
            <p:cNvSpPr/>
            <p:nvPr/>
          </p:nvSpPr>
          <p:spPr>
            <a:xfrm>
              <a:off x="17172432" y="8604504"/>
              <a:ext cx="256032" cy="256032"/>
            </a:xfrm>
            <a:prstGeom prst="ellipse">
              <a:avLst/>
            </a:prstGeom>
            <a:solidFill>
              <a:srgbClr val="B36A43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TextBox 18"/>
            <p:cNvSpPr txBox="1"/>
            <p:nvPr/>
          </p:nvSpPr>
          <p:spPr>
            <a:xfrm>
              <a:off x="174650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1600" b="1" i="0">
                  <a:solidFill>
                    <a:srgbClr val="B36A43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20" name="Attention"/>
            <p:cNvSpPr/>
            <p:nvPr/>
          </p:nvSpPr>
          <p:spPr>
            <a:xfrm>
              <a:off x="16605504" y="9171432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TextBox 20"/>
            <p:cNvSpPr txBox="1"/>
            <p:nvPr/>
          </p:nvSpPr>
          <p:spPr>
            <a:xfrm>
              <a:off x="15636240" y="9436608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22" name="Action"/>
            <p:cNvSpPr/>
            <p:nvPr/>
          </p:nvSpPr>
          <p:spPr>
            <a:xfrm>
              <a:off x="16038576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3" name="TextBox 22"/>
            <p:cNvSpPr txBox="1"/>
            <p:nvPr/>
          </p:nvSpPr>
          <p:spPr>
            <a:xfrm>
              <a:off x="147218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Action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636240" y="729691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400" b="1" i="0">
                  <a:solidFill>
                    <a:srgbClr val="9AA5B4"/>
                  </a:solidFill>
                  <a:latin typeface="Canva Sans"/>
                </a:rPr>
                <a:t>MANAGER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Manager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Steer the team</a:t>
            </a:r>
          </a:p>
        </p:txBody>
      </p:sp>
      <p:grpSp>
        <p:nvGrpSpPr>
          <p:cNvPr id="5" name="Web screen"/>
          <p:cNvGrpSpPr/>
          <p:nvPr/>
        </p:nvGrpSpPr>
        <p:grpSpPr>
          <a:xfrm>
            <a:off x="822960" y="3474720"/>
            <a:ext cx="9692640" cy="5196142"/>
            <a:chOff x="822960" y="3474720"/>
            <a:chExt cx="9692640" cy="5196142"/>
          </a:xfrm>
        </p:grpSpPr>
        <p:sp>
          <p:nvSpPr>
            <p:cNvPr id="6" name="Frame"/>
            <p:cNvSpPr/>
            <p:nvPr/>
          </p:nvSpPr>
          <p:spPr>
            <a:xfrm>
              <a:off x="822960" y="3474720"/>
              <a:ext cx="9692640" cy="5196142"/>
            </a:xfrm>
            <a:prstGeom prst="roundRect">
              <a:avLst/>
            </a:prstGeom>
            <a:solidFill>
              <a:srgbClr val="2A3644"/>
            </a:solidFill>
            <a:ln w="1905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Oval 6"/>
            <p:cNvSpPr/>
            <p:nvPr/>
          </p:nvSpPr>
          <p:spPr>
            <a:xfrm>
              <a:off x="1051560" y="3630168"/>
              <a:ext cx="137160" cy="13716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Oval 7"/>
            <p:cNvSpPr/>
            <p:nvPr/>
          </p:nvSpPr>
          <p:spPr>
            <a:xfrm>
              <a:off x="1280160" y="3630168"/>
              <a:ext cx="137160" cy="13716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Oval 8"/>
            <p:cNvSpPr/>
            <p:nvPr/>
          </p:nvSpPr>
          <p:spPr>
            <a:xfrm>
              <a:off x="1508760" y="3630168"/>
              <a:ext cx="137160" cy="13716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10" name="Screenshot" descr="manager-schedul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3931920"/>
              <a:ext cx="9692640" cy="4738942"/>
            </a:xfrm>
            <a:prstGeom prst="rect">
              <a:avLst/>
            </a:prstGeom>
          </p:spPr>
        </p:pic>
      </p:grpSp>
      <p:sp>
        <p:nvSpPr>
          <p:cNvPr id="11" name="Bullets"/>
          <p:cNvSpPr txBox="1"/>
          <p:nvPr/>
        </p:nvSpPr>
        <p:spPr>
          <a:xfrm>
            <a:off x="10972800" y="36576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Set priorities once. They land in every rep's week.</a:t>
            </a:r>
          </a:p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Plan a list for a rep, a program, a region.</a:t>
            </a:r>
          </a:p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3200">
                <a:solidFill>
                  <a:srgbClr val="FFFFFF"/>
                </a:solidFill>
                <a:latin typeface="Canva Sans"/>
              </a:rPr>
              <a:t>Which promos landed. Who is at risk. What shops are saying.</a:t>
            </a:r>
          </a:p>
        </p:txBody>
      </p:sp>
      <p:sp>
        <p:nvSpPr>
          <p:cNvPr id="12" name="Gets back label"/>
          <p:cNvSpPr txBox="1"/>
          <p:nvPr/>
        </p:nvSpPr>
        <p:spPr>
          <a:xfrm>
            <a:off x="10972800" y="813816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9AA5B4"/>
                </a:solidFill>
                <a:latin typeface="Canva Sans"/>
              </a:rPr>
              <a:t>What the manager gets back</a:t>
            </a:r>
          </a:p>
        </p:txBody>
      </p:sp>
      <p:sp>
        <p:nvSpPr>
          <p:cNvPr id="13" name="Gets back"/>
          <p:cNvSpPr txBox="1"/>
          <p:nvPr/>
        </p:nvSpPr>
        <p:spPr>
          <a:xfrm>
            <a:off x="10972800" y="8595360"/>
            <a:ext cx="49377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B36A43"/>
                </a:solidFill>
                <a:latin typeface="Canva Sans"/>
              </a:rPr>
              <a:t>One plan, whole team.</a:t>
            </a:r>
          </a:p>
        </p:txBody>
      </p:sp>
      <p:grpSp>
        <p:nvGrpSpPr>
          <p:cNvPr id="14" name="Loop marker"/>
          <p:cNvGrpSpPr/>
          <p:nvPr/>
        </p:nvGrpSpPr>
        <p:grpSpPr>
          <a:xfrm>
            <a:off x="14721840" y="7296912"/>
            <a:ext cx="4023360" cy="2505456"/>
            <a:chOff x="14721840" y="7296912"/>
            <a:chExt cx="4023360" cy="2505456"/>
          </a:xfrm>
        </p:grpSpPr>
        <p:sp>
          <p:nvSpPr>
            <p:cNvPr id="15" name="Ring"/>
            <p:cNvSpPr/>
            <p:nvPr/>
          </p:nvSpPr>
          <p:spPr>
            <a:xfrm>
              <a:off x="16166592" y="8165592"/>
              <a:ext cx="1133856" cy="1133856"/>
            </a:xfrm>
            <a:prstGeom prst="ellipse">
              <a:avLst/>
            </a:prstGeom>
            <a:noFill/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Capture"/>
            <p:cNvSpPr/>
            <p:nvPr/>
          </p:nvSpPr>
          <p:spPr>
            <a:xfrm>
              <a:off x="16605504" y="8037576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TextBox 16"/>
            <p:cNvSpPr txBox="1"/>
            <p:nvPr/>
          </p:nvSpPr>
          <p:spPr>
            <a:xfrm>
              <a:off x="15636240" y="766267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Capture</a:t>
              </a:r>
            </a:p>
          </p:txBody>
        </p:sp>
        <p:sp>
          <p:nvSpPr>
            <p:cNvPr id="18" name="Signal"/>
            <p:cNvSpPr/>
            <p:nvPr/>
          </p:nvSpPr>
          <p:spPr>
            <a:xfrm>
              <a:off x="17172432" y="8604504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TextBox 18"/>
            <p:cNvSpPr txBox="1"/>
            <p:nvPr/>
          </p:nvSpPr>
          <p:spPr>
            <a:xfrm>
              <a:off x="174650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1600" b="0" i="0">
                  <a:solidFill>
                    <a:srgbClr val="9AA5B4"/>
                  </a:solidFill>
                  <a:latin typeface="Canva Sans"/>
                </a:rPr>
                <a:t>Signal</a:t>
              </a:r>
            </a:p>
          </p:txBody>
        </p:sp>
        <p:sp>
          <p:nvSpPr>
            <p:cNvPr id="20" name="Attention"/>
            <p:cNvSpPr/>
            <p:nvPr/>
          </p:nvSpPr>
          <p:spPr>
            <a:xfrm>
              <a:off x="16605504" y="9171432"/>
              <a:ext cx="256032" cy="256032"/>
            </a:xfrm>
            <a:prstGeom prst="ellipse">
              <a:avLst/>
            </a:prstGeom>
            <a:solidFill>
              <a:srgbClr val="04182D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TextBox 20"/>
            <p:cNvSpPr txBox="1"/>
            <p:nvPr/>
          </p:nvSpPr>
          <p:spPr>
            <a:xfrm>
              <a:off x="15636240" y="9436608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600" b="0" i="0">
                  <a:solidFill>
                    <a:srgbClr val="9AA5B4"/>
                  </a:solidFill>
                  <a:latin typeface="Canva Sans"/>
                </a:rPr>
                <a:t>Attention</a:t>
              </a:r>
            </a:p>
          </p:txBody>
        </p:sp>
        <p:sp>
          <p:nvSpPr>
            <p:cNvPr id="22" name="Action"/>
            <p:cNvSpPr/>
            <p:nvPr/>
          </p:nvSpPr>
          <p:spPr>
            <a:xfrm>
              <a:off x="16038576" y="8604504"/>
              <a:ext cx="256032" cy="256032"/>
            </a:xfrm>
            <a:prstGeom prst="ellipse">
              <a:avLst/>
            </a:prstGeom>
            <a:solidFill>
              <a:srgbClr val="B36A43"/>
            </a:solidFill>
            <a:ln w="254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3" name="TextBox 22"/>
            <p:cNvSpPr txBox="1"/>
            <p:nvPr/>
          </p:nvSpPr>
          <p:spPr>
            <a:xfrm>
              <a:off x="14721840" y="8549640"/>
              <a:ext cx="12801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r"/>
              <a:r>
                <a:rPr sz="1600" b="1" i="0">
                  <a:solidFill>
                    <a:srgbClr val="B36A43"/>
                  </a:solidFill>
                  <a:latin typeface="Canva Sans"/>
                </a:rPr>
                <a:t>Action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636240" y="7296912"/>
              <a:ext cx="2194560" cy="36576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1400" b="1" i="0">
                  <a:solidFill>
                    <a:srgbClr val="9AA5B4"/>
                  </a:solidFill>
                  <a:latin typeface="Canva Sans"/>
                </a:rPr>
                <a:t>MANAGER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Manager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Back in the door, aligned</a:t>
            </a:r>
          </a:p>
        </p:txBody>
      </p:sp>
      <p:grpSp>
        <p:nvGrpSpPr>
          <p:cNvPr id="5" name="Rep and manager exchange"/>
          <p:cNvGrpSpPr/>
          <p:nvPr/>
        </p:nvGrpSpPr>
        <p:grpSpPr>
          <a:xfrm>
            <a:off x="2468880" y="4434840"/>
            <a:ext cx="13350240" cy="3246120"/>
            <a:chOff x="2468880" y="4434840"/>
            <a:chExt cx="13350240" cy="3246120"/>
          </a:xfrm>
        </p:grpSpPr>
        <p:sp>
          <p:nvSpPr>
            <p:cNvPr id="6" name="Head ring"/>
            <p:cNvSpPr/>
            <p:nvPr/>
          </p:nvSpPr>
          <p:spPr>
            <a:xfrm>
              <a:off x="2926080" y="5120640"/>
              <a:ext cx="1828800" cy="1828800"/>
            </a:xfrm>
            <a:prstGeom prst="ellipse">
              <a:avLst/>
            </a:prstGeom>
            <a:solidFill>
              <a:srgbClr val="04182D"/>
            </a:solidFill>
            <a:ln w="508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Head"/>
            <p:cNvSpPr/>
            <p:nvPr/>
          </p:nvSpPr>
          <p:spPr>
            <a:xfrm>
              <a:off x="3602736" y="5532120"/>
              <a:ext cx="475488" cy="475488"/>
            </a:xfrm>
            <a:prstGeom prst="ellipse">
              <a:avLst/>
            </a:prstGeom>
            <a:noFill/>
            <a:ln w="508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Shoulders"/>
            <p:cNvSpPr/>
            <p:nvPr/>
          </p:nvSpPr>
          <p:spPr>
            <a:xfrm>
              <a:off x="3383280" y="5989320"/>
              <a:ext cx="914400" cy="822960"/>
            </a:xfrm>
            <a:prstGeom prst="blockArc">
              <a:avLst/>
            </a:prstGeom>
            <a:noFill/>
            <a:ln w="508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TextBox 8"/>
            <p:cNvSpPr txBox="1"/>
            <p:nvPr/>
          </p:nvSpPr>
          <p:spPr>
            <a:xfrm>
              <a:off x="2468880" y="7132320"/>
              <a:ext cx="274320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3000" b="1" i="0">
                  <a:solidFill>
                    <a:srgbClr val="FFFFFF"/>
                  </a:solidFill>
                  <a:latin typeface="Canva Sans"/>
                </a:rPr>
                <a:t>Rep</a:t>
              </a:r>
            </a:p>
          </p:txBody>
        </p:sp>
        <p:sp>
          <p:nvSpPr>
            <p:cNvPr id="10" name="Head ring"/>
            <p:cNvSpPr/>
            <p:nvPr/>
          </p:nvSpPr>
          <p:spPr>
            <a:xfrm>
              <a:off x="13533120" y="5120640"/>
              <a:ext cx="1828800" cy="1828800"/>
            </a:xfrm>
            <a:prstGeom prst="ellipse">
              <a:avLst/>
            </a:prstGeom>
            <a:solidFill>
              <a:srgbClr val="04182D"/>
            </a:solidFill>
            <a:ln w="508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Head"/>
            <p:cNvSpPr/>
            <p:nvPr/>
          </p:nvSpPr>
          <p:spPr>
            <a:xfrm>
              <a:off x="14209776" y="5532120"/>
              <a:ext cx="475488" cy="475488"/>
            </a:xfrm>
            <a:prstGeom prst="ellipse">
              <a:avLst/>
            </a:prstGeom>
            <a:noFill/>
            <a:ln w="508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Shoulders"/>
            <p:cNvSpPr/>
            <p:nvPr/>
          </p:nvSpPr>
          <p:spPr>
            <a:xfrm>
              <a:off x="13990320" y="5989320"/>
              <a:ext cx="914400" cy="822960"/>
            </a:xfrm>
            <a:prstGeom prst="blockArc">
              <a:avLst/>
            </a:prstGeom>
            <a:noFill/>
            <a:ln w="508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TextBox 12"/>
            <p:cNvSpPr txBox="1"/>
            <p:nvPr/>
          </p:nvSpPr>
          <p:spPr>
            <a:xfrm>
              <a:off x="13075920" y="7132320"/>
              <a:ext cx="274320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3000" b="1" i="0">
                  <a:solidFill>
                    <a:srgbClr val="FFFFFF"/>
                  </a:solidFill>
                  <a:latin typeface="Canva Sans"/>
                </a:rPr>
                <a:t>Manager</a:t>
              </a:r>
            </a:p>
          </p:txBody>
        </p:sp>
        <p:sp>
          <p:nvSpPr>
            <p:cNvPr id="14" name="Field to manager"/>
            <p:cNvSpPr/>
            <p:nvPr/>
          </p:nvSpPr>
          <p:spPr>
            <a:xfrm>
              <a:off x="5120640" y="5120640"/>
              <a:ext cx="8046720" cy="502920"/>
            </a:xfrm>
            <a:prstGeom prst="rightArrow">
              <a:avLst/>
            </a:prstGeom>
            <a:solidFill>
              <a:srgbClr val="B36A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Manager to field"/>
            <p:cNvSpPr/>
            <p:nvPr/>
          </p:nvSpPr>
          <p:spPr>
            <a:xfrm>
              <a:off x="5120640" y="6400800"/>
              <a:ext cx="8046720" cy="502920"/>
            </a:xfrm>
            <a:prstGeom prst="leftArrow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TextBox 15"/>
            <p:cNvSpPr txBox="1"/>
            <p:nvPr/>
          </p:nvSpPr>
          <p:spPr>
            <a:xfrm>
              <a:off x="5120640" y="4434840"/>
              <a:ext cx="804672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800" b="0" i="0">
                  <a:solidFill>
                    <a:srgbClr val="FFFFFF"/>
                  </a:solidFill>
                  <a:latin typeface="Canva Sans"/>
                </a:rPr>
                <a:t>What the shop said, the same day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20640" y="7040880"/>
              <a:ext cx="804672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800" b="0" i="0">
                  <a:solidFill>
                    <a:srgbClr val="FFFFFF"/>
                  </a:solidFill>
                  <a:latin typeface="Canva Sans"/>
                </a:rPr>
                <a:t>What to raise, before the next visit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For the Whole Business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nva Sans"/>
              </a:rPr>
              <a:t>One set of conversations, many readers</a:t>
            </a:r>
          </a:p>
        </p:txBody>
      </p:sp>
      <p:grpSp>
        <p:nvGrpSpPr>
          <p:cNvPr id="5" name="Readers wheel"/>
          <p:cNvGrpSpPr/>
          <p:nvPr/>
        </p:nvGrpSpPr>
        <p:grpSpPr>
          <a:xfrm>
            <a:off x="3946809" y="3703320"/>
            <a:ext cx="10394381" cy="5394960"/>
            <a:chOff x="3946809" y="3703320"/>
            <a:chExt cx="10394381" cy="5394960"/>
          </a:xfrm>
        </p:grpSpPr>
        <p:sp>
          <p:nvSpPr>
            <p:cNvPr id="6" name="Center"/>
            <p:cNvSpPr/>
            <p:nvPr/>
          </p:nvSpPr>
          <p:spPr>
            <a:xfrm>
              <a:off x="7955279" y="5212080"/>
              <a:ext cx="2377440" cy="2377440"/>
            </a:xfrm>
            <a:prstGeom prst="ellipse">
              <a:avLst/>
            </a:prstGeom>
            <a:solidFill>
              <a:srgbClr val="0F2640"/>
            </a:solidFill>
            <a:ln w="38100">
              <a:solidFill>
                <a:srgbClr val="B36A4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TextBox 6"/>
            <p:cNvSpPr txBox="1"/>
            <p:nvPr/>
          </p:nvSpPr>
          <p:spPr>
            <a:xfrm>
              <a:off x="7955279" y="5943600"/>
              <a:ext cx="2377440" cy="9144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200" b="1" i="0">
                  <a:solidFill>
                    <a:srgbClr val="FFFFFF"/>
                  </a:solidFill>
                  <a:latin typeface="Canva Sans"/>
                </a:rPr>
                <a:t>What the field</a:t>
              </a:r>
            </a:p>
            <a:p>
              <a:pPr algn="ctr"/>
              <a:r>
                <a:rPr sz="2200" b="1" i="0">
                  <a:solidFill>
                    <a:srgbClr val="FFFFFF"/>
                  </a:solidFill>
                  <a:latin typeface="Canva Sans"/>
                </a:rPr>
                <a:t>heard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 flipV="1">
              <a:off x="9144000" y="4023360"/>
              <a:ext cx="0" cy="1188720"/>
            </a:xfrm>
            <a:prstGeom prst="line">
              <a:avLst/>
            </a:prstGeom>
            <a:ln w="19050">
              <a:solidFill>
                <a:srgbClr val="3A4C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7589520" y="3703320"/>
              <a:ext cx="310896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  <a:latin typeface="Canva Sans"/>
                </a:rPr>
                <a:t>Sales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 flipV="1">
              <a:off x="10173461" y="5212080"/>
              <a:ext cx="2613249" cy="594360"/>
            </a:xfrm>
            <a:prstGeom prst="line">
              <a:avLst/>
            </a:prstGeom>
            <a:ln w="19050">
              <a:solidFill>
                <a:srgbClr val="3A4C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1232230" y="4892040"/>
              <a:ext cx="310896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  <a:latin typeface="Canva Sans"/>
                </a:rPr>
                <a:t>Counter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0173461" y="6995160"/>
              <a:ext cx="2613249" cy="594360"/>
            </a:xfrm>
            <a:prstGeom prst="line">
              <a:avLst/>
            </a:prstGeom>
            <a:ln w="19050">
              <a:solidFill>
                <a:srgbClr val="3A4C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1232230" y="7269480"/>
              <a:ext cx="310896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  <a:latin typeface="Canva Sans"/>
                </a:rPr>
                <a:t>Product and quality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9144000" y="7589520"/>
              <a:ext cx="0" cy="1188720"/>
            </a:xfrm>
            <a:prstGeom prst="line">
              <a:avLst/>
            </a:prstGeom>
            <a:ln w="19050">
              <a:solidFill>
                <a:srgbClr val="3A4C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589520" y="8458200"/>
              <a:ext cx="310896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  <a:latin typeface="Canva Sans"/>
                </a:rPr>
                <a:t>Marketing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H="1">
              <a:off x="5501289" y="6995160"/>
              <a:ext cx="2613249" cy="594360"/>
            </a:xfrm>
            <a:prstGeom prst="line">
              <a:avLst/>
            </a:prstGeom>
            <a:ln w="19050">
              <a:solidFill>
                <a:srgbClr val="3A4C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946809" y="7269480"/>
              <a:ext cx="310896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  <a:latin typeface="Canva Sans"/>
                </a:rPr>
                <a:t>Leadership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 flipV="1">
              <a:off x="5501289" y="5212079"/>
              <a:ext cx="2613249" cy="594361"/>
            </a:xfrm>
            <a:prstGeom prst="line">
              <a:avLst/>
            </a:prstGeom>
            <a:ln w="19050">
              <a:solidFill>
                <a:srgbClr val="3A4C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946809" y="4892040"/>
              <a:ext cx="3108960" cy="6400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  <a:latin typeface="Canva Sans"/>
                </a:rPr>
                <a:t>New reps</a:t>
              </a:r>
            </a:p>
          </p:txBody>
        </p:sp>
      </p:grpSp>
      <p:sp>
        <p:nvSpPr>
          <p:cNvPr id="20" name="Takeaway"/>
          <p:cNvSpPr txBox="1"/>
          <p:nvPr/>
        </p:nvSpPr>
        <p:spPr>
          <a:xfrm>
            <a:off x="548640" y="9052560"/>
            <a:ext cx="17190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nva Sans"/>
              </a:rPr>
              <a:t>Captured once. Read by every team. Kept when reps move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What Customers Say</a:t>
            </a:r>
          </a:p>
        </p:txBody>
      </p:sp>
      <p:grpSp>
        <p:nvGrpSpPr>
          <p:cNvPr id="4" name="Quote 1"/>
          <p:cNvGrpSpPr/>
          <p:nvPr/>
        </p:nvGrpSpPr>
        <p:grpSpPr>
          <a:xfrm>
            <a:off x="914400" y="2468880"/>
            <a:ext cx="16459200" cy="1828800"/>
            <a:chOff x="914400" y="2468880"/>
            <a:chExt cx="16459200" cy="1828800"/>
          </a:xfrm>
        </p:grpSpPr>
        <p:sp>
          <p:nvSpPr>
            <p:cNvPr id="5" name="Card"/>
            <p:cNvSpPr/>
            <p:nvPr/>
          </p:nvSpPr>
          <p:spPr>
            <a:xfrm>
              <a:off x="914400" y="2468880"/>
              <a:ext cx="16459200" cy="1828800"/>
            </a:xfrm>
            <a:prstGeom prst="roundRect">
              <a:avLst/>
            </a:prstGeom>
            <a:solidFill>
              <a:srgbClr val="0F264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" name="TextBox 5"/>
            <p:cNvSpPr txBox="1"/>
            <p:nvPr/>
          </p:nvSpPr>
          <p:spPr>
            <a:xfrm>
              <a:off x="1280160" y="2606040"/>
              <a:ext cx="15727680" cy="9144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600" b="1" i="1">
                  <a:solidFill>
                    <a:srgbClr val="FFFFFF"/>
                  </a:solidFill>
                  <a:latin typeface="Canva Sans"/>
                </a:rPr>
                <a:t>"I didn't know a single button could change my business so much."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0160" y="3566160"/>
              <a:ext cx="1572768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1" i="0">
                  <a:solidFill>
                    <a:srgbClr val="B36A43"/>
                  </a:solidFill>
                  <a:latin typeface="Canva Sans"/>
                </a:rPr>
                <a:t>Angelo Capoli, Capoli Sales</a:t>
              </a:r>
            </a:p>
          </p:txBody>
        </p:sp>
      </p:grpSp>
      <p:grpSp>
        <p:nvGrpSpPr>
          <p:cNvPr id="8" name="Quote 2"/>
          <p:cNvGrpSpPr/>
          <p:nvPr/>
        </p:nvGrpSpPr>
        <p:grpSpPr>
          <a:xfrm>
            <a:off x="914400" y="4617720"/>
            <a:ext cx="16459200" cy="1828800"/>
            <a:chOff x="914400" y="4617720"/>
            <a:chExt cx="16459200" cy="1828800"/>
          </a:xfrm>
        </p:grpSpPr>
        <p:sp>
          <p:nvSpPr>
            <p:cNvPr id="9" name="Card"/>
            <p:cNvSpPr/>
            <p:nvPr/>
          </p:nvSpPr>
          <p:spPr>
            <a:xfrm>
              <a:off x="914400" y="4617720"/>
              <a:ext cx="16459200" cy="1828800"/>
            </a:xfrm>
            <a:prstGeom prst="roundRect">
              <a:avLst/>
            </a:prstGeom>
            <a:solidFill>
              <a:srgbClr val="0F264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TextBox 9"/>
            <p:cNvSpPr txBox="1"/>
            <p:nvPr/>
          </p:nvSpPr>
          <p:spPr>
            <a:xfrm>
              <a:off x="1280160" y="4754880"/>
              <a:ext cx="15727680" cy="9144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600" b="1" i="1">
                  <a:solidFill>
                    <a:srgbClr val="FFFFFF"/>
                  </a:solidFill>
                  <a:latin typeface="Canva Sans"/>
                </a:rPr>
                <a:t>"You absolutely nailed it. Time well spent."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80160" y="5715000"/>
              <a:ext cx="1572768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1" i="0">
                  <a:solidFill>
                    <a:srgbClr val="B36A43"/>
                  </a:solidFill>
                  <a:latin typeface="Canva Sans"/>
                </a:rPr>
                <a:t>Don Gritzmacher, President, Enders &amp; Associates</a:t>
              </a:r>
            </a:p>
          </p:txBody>
        </p:sp>
      </p:grpSp>
      <p:grpSp>
        <p:nvGrpSpPr>
          <p:cNvPr id="12" name="Quote 3"/>
          <p:cNvGrpSpPr/>
          <p:nvPr/>
        </p:nvGrpSpPr>
        <p:grpSpPr>
          <a:xfrm>
            <a:off x="914400" y="6766560"/>
            <a:ext cx="16459200" cy="1828800"/>
            <a:chOff x="914400" y="6766560"/>
            <a:chExt cx="16459200" cy="1828800"/>
          </a:xfrm>
        </p:grpSpPr>
        <p:sp>
          <p:nvSpPr>
            <p:cNvPr id="13" name="Card"/>
            <p:cNvSpPr/>
            <p:nvPr/>
          </p:nvSpPr>
          <p:spPr>
            <a:xfrm>
              <a:off x="914400" y="6766560"/>
              <a:ext cx="16459200" cy="1828800"/>
            </a:xfrm>
            <a:prstGeom prst="roundRect">
              <a:avLst/>
            </a:prstGeom>
            <a:solidFill>
              <a:srgbClr val="0F264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TextBox 13"/>
            <p:cNvSpPr txBox="1"/>
            <p:nvPr/>
          </p:nvSpPr>
          <p:spPr>
            <a:xfrm>
              <a:off x="1280160" y="6903720"/>
              <a:ext cx="15727680" cy="9144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3600" b="1" i="1">
                  <a:solidFill>
                    <a:srgbClr val="FFFFFF"/>
                  </a:solidFill>
                  <a:latin typeface="Canva Sans"/>
                </a:rPr>
                <a:t>"Made an extremely complicated topic more understandable and useful."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80160" y="7863840"/>
              <a:ext cx="15727680" cy="54864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1" i="0">
                  <a:solidFill>
                    <a:srgbClr val="B36A43"/>
                  </a:solidFill>
                  <a:latin typeface="Canva Sans"/>
                </a:rPr>
                <a:t>Chris Cherry, President, Cherry Sales Associates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What It Found</a:t>
            </a:r>
          </a:p>
        </p:txBody>
      </p:sp>
      <p:grpSp>
        <p:nvGrpSpPr>
          <p:cNvPr id="4" name="Card 1"/>
          <p:cNvGrpSpPr/>
          <p:nvPr/>
        </p:nvGrpSpPr>
        <p:grpSpPr>
          <a:xfrm>
            <a:off x="914400" y="2651760"/>
            <a:ext cx="5303520" cy="5852160"/>
            <a:chOff x="914400" y="2651760"/>
            <a:chExt cx="5303520" cy="5852160"/>
          </a:xfrm>
        </p:grpSpPr>
        <p:sp>
          <p:nvSpPr>
            <p:cNvPr id="5" name="Card"/>
            <p:cNvSpPr/>
            <p:nvPr/>
          </p:nvSpPr>
          <p:spPr>
            <a:xfrm>
              <a:off x="914400" y="2651760"/>
              <a:ext cx="5303520" cy="5852160"/>
            </a:xfrm>
            <a:prstGeom prst="roundRect">
              <a:avLst/>
            </a:prstGeom>
            <a:solidFill>
              <a:srgbClr val="0F264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" name="TextBox 5"/>
            <p:cNvSpPr txBox="1"/>
            <p:nvPr/>
          </p:nvSpPr>
          <p:spPr>
            <a:xfrm>
              <a:off x="1280160" y="3017520"/>
              <a:ext cx="4572000" cy="9144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4400" b="1" i="0">
                  <a:solidFill>
                    <a:srgbClr val="B36A43"/>
                  </a:solidFill>
                  <a:latin typeface="Canva Sans"/>
                </a:rPr>
                <a:t>85,000 calls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80160" y="4023360"/>
              <a:ext cx="457200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800" b="1" i="0">
                  <a:solidFill>
                    <a:srgbClr val="FFFFFF"/>
                  </a:solidFill>
                  <a:latin typeface="Canva Sans"/>
                </a:rPr>
                <a:t>One morning report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80160" y="5029200"/>
              <a:ext cx="4572000" cy="27432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0" i="0">
                  <a:solidFill>
                    <a:srgbClr val="9AA5B4"/>
                  </a:solidFill>
                  <a:latin typeface="Canva Sans"/>
                </a:rPr>
                <a:t>OK4WD: about 170 calls a day, one report on the desk each morning.</a:t>
              </a:r>
            </a:p>
          </p:txBody>
        </p:sp>
      </p:grpSp>
      <p:grpSp>
        <p:nvGrpSpPr>
          <p:cNvPr id="9" name="Card 2"/>
          <p:cNvGrpSpPr/>
          <p:nvPr/>
        </p:nvGrpSpPr>
        <p:grpSpPr>
          <a:xfrm>
            <a:off x="6583680" y="2651760"/>
            <a:ext cx="5303520" cy="5852160"/>
            <a:chOff x="6583680" y="2651760"/>
            <a:chExt cx="5303520" cy="5852160"/>
          </a:xfrm>
        </p:grpSpPr>
        <p:sp>
          <p:nvSpPr>
            <p:cNvPr id="10" name="Card"/>
            <p:cNvSpPr/>
            <p:nvPr/>
          </p:nvSpPr>
          <p:spPr>
            <a:xfrm>
              <a:off x="6583680" y="2651760"/>
              <a:ext cx="5303520" cy="5852160"/>
            </a:xfrm>
            <a:prstGeom prst="roundRect">
              <a:avLst/>
            </a:prstGeom>
            <a:solidFill>
              <a:srgbClr val="0F264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TextBox 10"/>
            <p:cNvSpPr txBox="1"/>
            <p:nvPr/>
          </p:nvSpPr>
          <p:spPr>
            <a:xfrm>
              <a:off x="6949440" y="3017520"/>
              <a:ext cx="4572000" cy="9144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4400" b="1" i="0">
                  <a:solidFill>
                    <a:srgbClr val="B36A43"/>
                  </a:solidFill>
                  <a:latin typeface="Canva Sans"/>
                </a:rPr>
                <a:t>300 field notes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949440" y="4023360"/>
              <a:ext cx="457200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800" b="1" i="0">
                  <a:solidFill>
                    <a:srgbClr val="FFFFFF"/>
                  </a:solidFill>
                  <a:latin typeface="Canva Sans"/>
                </a:rPr>
                <a:t>A $29,000 assembly ask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49440" y="5029200"/>
              <a:ext cx="4572000" cy="27432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0" i="0">
                  <a:solidFill>
                    <a:srgbClr val="9AA5B4"/>
                  </a:solidFill>
                  <a:latin typeface="Canva Sans"/>
                </a:rPr>
                <a:t>One quarter of notes from a distributor field team surfaced a request nobody had logged.</a:t>
              </a:r>
            </a:p>
          </p:txBody>
        </p:sp>
      </p:grpSp>
      <p:grpSp>
        <p:nvGrpSpPr>
          <p:cNvPr id="14" name="Card 3"/>
          <p:cNvGrpSpPr/>
          <p:nvPr/>
        </p:nvGrpSpPr>
        <p:grpSpPr>
          <a:xfrm>
            <a:off x="12252960" y="2651760"/>
            <a:ext cx="5303520" cy="5852160"/>
            <a:chOff x="12252960" y="2651760"/>
            <a:chExt cx="5303520" cy="5852160"/>
          </a:xfrm>
        </p:grpSpPr>
        <p:sp>
          <p:nvSpPr>
            <p:cNvPr id="15" name="Card"/>
            <p:cNvSpPr/>
            <p:nvPr/>
          </p:nvSpPr>
          <p:spPr>
            <a:xfrm>
              <a:off x="12252960" y="2651760"/>
              <a:ext cx="5303520" cy="5852160"/>
            </a:xfrm>
            <a:prstGeom prst="roundRect">
              <a:avLst/>
            </a:prstGeom>
            <a:solidFill>
              <a:srgbClr val="0F2640"/>
            </a:solidFill>
            <a:ln w="25400">
              <a:solidFill>
                <a:srgbClr val="3A4C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TextBox 15"/>
            <p:cNvSpPr txBox="1"/>
            <p:nvPr/>
          </p:nvSpPr>
          <p:spPr>
            <a:xfrm>
              <a:off x="12618720" y="3017520"/>
              <a:ext cx="4572000" cy="9144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4400" b="1" i="0">
                  <a:solidFill>
                    <a:srgbClr val="B36A43"/>
                  </a:solidFill>
                  <a:latin typeface="Canva Sans"/>
                </a:rPr>
                <a:t>5 support calls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618720" y="4023360"/>
              <a:ext cx="457200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800" b="1" i="0">
                  <a:solidFill>
                    <a:srgbClr val="FFFFFF"/>
                  </a:solidFill>
                  <a:latin typeface="Canva Sans"/>
                </a:rPr>
                <a:t>4 invisible work orders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618720" y="5029200"/>
              <a:ext cx="4572000" cy="274320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0" i="0">
                  <a:solidFill>
                    <a:srgbClr val="9AA5B4"/>
                  </a:solidFill>
                  <a:latin typeface="Canva Sans"/>
                </a:rPr>
                <a:t>A manufacturer's support calls, read together, showed work orders and a misrouted brand line.</a:t>
              </a:r>
            </a:p>
          </p:txBody>
        </p:sp>
      </p:grpSp>
      <p:sp>
        <p:nvSpPr>
          <p:cNvPr id="19" name="Footnote"/>
          <p:cNvSpPr txBox="1"/>
          <p:nvPr/>
        </p:nvSpPr>
        <p:spPr>
          <a:xfrm>
            <a:off x="914400" y="8869680"/>
            <a:ext cx="1645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9AA5B4"/>
                </a:solidFill>
                <a:latin typeface="Canva Sans"/>
              </a:rPr>
              <a:t>Case cards are de-identified. Figures as recorded in the engagements.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000" b="1" i="0">
                <a:solidFill>
                  <a:srgbClr val="B36A43"/>
                </a:solidFill>
                <a:latin typeface="Canva Sans"/>
              </a:rPr>
              <a:t>Recognized by the Industry</a:t>
            </a:r>
          </a:p>
        </p:txBody>
      </p:sp>
      <p:grpSp>
        <p:nvGrpSpPr>
          <p:cNvPr id="4" name="Customer logos"/>
          <p:cNvGrpSpPr/>
          <p:nvPr/>
        </p:nvGrpSpPr>
        <p:grpSpPr>
          <a:xfrm>
            <a:off x="1463040" y="2926080"/>
            <a:ext cx="15081337" cy="1280160"/>
            <a:chOff x="1463040" y="2926080"/>
            <a:chExt cx="15081337" cy="1280160"/>
          </a:xfrm>
        </p:grpSpPr>
        <p:pic>
          <p:nvPicPr>
            <p:cNvPr id="5" name="l-temot" descr="l-tem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3040" y="2926080"/>
              <a:ext cx="2279737" cy="1280160"/>
            </a:xfrm>
            <a:prstGeom prst="rect">
              <a:avLst/>
            </a:prstGeom>
          </p:spPr>
        </p:pic>
        <p:pic>
          <p:nvPicPr>
            <p:cNvPr id="6" name="l-shocksurplus" descr="l-shocksurplus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3440" y="2926080"/>
              <a:ext cx="2279737" cy="1280160"/>
            </a:xfrm>
            <a:prstGeom prst="rect">
              <a:avLst/>
            </a:prstGeom>
          </p:spPr>
        </p:pic>
        <p:pic>
          <p:nvPicPr>
            <p:cNvPr id="7" name="l-oeg" descr="l-oeg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63840" y="2926080"/>
              <a:ext cx="2279737" cy="1280160"/>
            </a:xfrm>
            <a:prstGeom prst="rect">
              <a:avLst/>
            </a:prstGeom>
          </p:spPr>
        </p:pic>
        <p:pic>
          <p:nvPicPr>
            <p:cNvPr id="8" name="l-nmg" descr="l-nmg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64240" y="2926080"/>
              <a:ext cx="2269375" cy="1280160"/>
            </a:xfrm>
            <a:prstGeom prst="rect">
              <a:avLst/>
            </a:prstGeom>
          </p:spPr>
        </p:pic>
        <p:pic>
          <p:nvPicPr>
            <p:cNvPr id="9" name="l-autowares" descr="l-autowares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264640" y="2926080"/>
              <a:ext cx="2279737" cy="1280160"/>
            </a:xfrm>
            <a:prstGeom prst="rect">
              <a:avLst/>
            </a:prstGeom>
          </p:spPr>
        </p:pic>
      </p:grpSp>
      <p:sp>
        <p:nvSpPr>
          <p:cNvPr id="10" name="Trusted by"/>
          <p:cNvSpPr txBox="1"/>
          <p:nvPr/>
        </p:nvSpPr>
        <p:spPr>
          <a:xfrm>
            <a:off x="914400" y="228600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9AA5B4"/>
                </a:solidFill>
                <a:latin typeface="Canva Sans"/>
              </a:rPr>
              <a:t>Trusted by</a:t>
            </a:r>
          </a:p>
        </p:txBody>
      </p:sp>
      <p:grpSp>
        <p:nvGrpSpPr>
          <p:cNvPr id="11" name="Awards"/>
          <p:cNvGrpSpPr/>
          <p:nvPr/>
        </p:nvGrpSpPr>
        <p:grpSpPr>
          <a:xfrm>
            <a:off x="1463040" y="5303520"/>
            <a:ext cx="6283147" cy="2377440"/>
            <a:chOff x="1463040" y="5303520"/>
            <a:chExt cx="6283147" cy="2377440"/>
          </a:xfrm>
        </p:grpSpPr>
        <p:pic>
          <p:nvPicPr>
            <p:cNvPr id="12" name="MEMA award" descr="mema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63040" y="5669280"/>
              <a:ext cx="3840480" cy="1356970"/>
            </a:xfrm>
            <a:prstGeom prst="rect">
              <a:avLst/>
            </a:prstGeom>
          </p:spPr>
        </p:pic>
        <p:pic>
          <p:nvPicPr>
            <p:cNvPr id="13" name="Auto Care 40 under 40" descr="autocare40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52160" y="5303520"/>
              <a:ext cx="1894027" cy="2377440"/>
            </a:xfrm>
            <a:prstGeom prst="rect">
              <a:avLst/>
            </a:prstGeom>
          </p:spPr>
        </p:pic>
      </p:grpSp>
      <p:sp>
        <p:nvSpPr>
          <p:cNvPr id="14" name="Recognized by"/>
          <p:cNvSpPr txBox="1"/>
          <p:nvPr/>
        </p:nvSpPr>
        <p:spPr>
          <a:xfrm>
            <a:off x="914400" y="484632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9AA5B4"/>
                </a:solidFill>
                <a:latin typeface="Canva Sans"/>
              </a:rPr>
              <a:t>Recognized by</a:t>
            </a:r>
          </a:p>
        </p:txBody>
      </p:sp>
      <p:sp>
        <p:nvSpPr>
          <p:cNvPr id="15" name="Bullets"/>
          <p:cNvSpPr txBox="1"/>
          <p:nvPr/>
        </p:nvSpPr>
        <p:spPr>
          <a:xfrm>
            <a:off x="10058400" y="548640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2800">
                <a:solidFill>
                  <a:srgbClr val="FFFFFF"/>
                </a:solidFill>
                <a:latin typeface="Canva Sans"/>
              </a:rPr>
              <a:t>ACI Parts Plus, live deployment</a:t>
            </a:r>
          </a:p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2800">
                <a:solidFill>
                  <a:srgbClr val="FFFFFF"/>
                </a:solidFill>
                <a:latin typeface="Canva Sans"/>
              </a:rPr>
              <a:t>MEMA HDMRC and Marketing Executive Council workshops</a:t>
            </a:r>
          </a:p>
          <a:p>
            <a:pPr marL="457200" indent="-457200">
              <a:spcAft>
                <a:spcPts val="1800"/>
              </a:spcAft>
              <a:buClr>
                <a:srgbClr val="B36A43"/>
              </a:buClr>
              <a:buChar char="•"/>
            </a:pPr>
            <a:r>
              <a:rPr sz="2800">
                <a:solidFill>
                  <a:srgbClr val="FFFFFF"/>
                </a:solidFill>
                <a:latin typeface="Canva Sans"/>
              </a:rPr>
              <a:t>Workshops for Auto Care, MEMA, SEMA, CVSN, APSG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8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omml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274320"/>
            <a:ext cx="2468880" cy="170890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457200"/>
            <a:ext cx="171907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0" b="1" i="0">
                <a:solidFill>
                  <a:srgbClr val="B36A43"/>
                </a:solidFill>
                <a:latin typeface="Canva Sans"/>
              </a:rPr>
              <a:t>Let's Not Boil the Ocean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103120"/>
            <a:ext cx="17190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nva Sans"/>
              </a:rPr>
              <a:t>How we start</a:t>
            </a:r>
          </a:p>
        </p:txBody>
      </p:sp>
      <p:grpSp>
        <p:nvGrpSpPr>
          <p:cNvPr id="5" name="Step 1"/>
          <p:cNvGrpSpPr/>
          <p:nvPr/>
        </p:nvGrpSpPr>
        <p:grpSpPr>
          <a:xfrm>
            <a:off x="914400" y="3657600"/>
            <a:ext cx="4023360" cy="3749040"/>
            <a:chOff x="914400" y="3657600"/>
            <a:chExt cx="4023360" cy="3749040"/>
          </a:xfrm>
        </p:grpSpPr>
        <p:sp>
          <p:nvSpPr>
            <p:cNvPr id="6" name="Number"/>
            <p:cNvSpPr/>
            <p:nvPr/>
          </p:nvSpPr>
          <p:spPr>
            <a:xfrm>
              <a:off x="914400" y="3657600"/>
              <a:ext cx="822960" cy="822960"/>
            </a:xfrm>
            <a:prstGeom prst="ellipse">
              <a:avLst/>
            </a:prstGeom>
            <a:solidFill>
              <a:srgbClr val="B36A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TextBox 6"/>
            <p:cNvSpPr txBox="1"/>
            <p:nvPr/>
          </p:nvSpPr>
          <p:spPr>
            <a:xfrm>
              <a:off x="914400" y="3703320"/>
              <a:ext cx="822960" cy="731520"/>
            </a:xfrm>
            <a:prstGeom prst="rect">
              <a:avLst/>
            </a:prstGeom>
            <a:noFill/>
          </p:spPr>
          <p:txBody>
            <a:bodyPr wrap="square" anchor="ctr" lIns="45720" rIns="45720" tIns="18288" bIns="18288">
              <a:spAutoFit/>
            </a:bodyPr>
            <a:lstStyle/>
            <a:p>
              <a:pPr algn="ctr"/>
              <a:r>
                <a:rPr sz="3400" b="1" i="0">
                  <a:solidFill>
                    <a:srgbClr val="FFFFFF"/>
                  </a:solidFill>
                  <a:latin typeface="Canva Sans"/>
                </a:rPr>
                <a:t>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4663440"/>
              <a:ext cx="402336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800" b="1" i="0">
                  <a:solidFill>
                    <a:srgbClr val="FFFFFF"/>
                  </a:solidFill>
                  <a:latin typeface="Canva Sans"/>
                </a:rPr>
                <a:t>Pick one team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5394960"/>
              <a:ext cx="3931920" cy="20116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0" i="0">
                  <a:solidFill>
                    <a:srgbClr val="9AA5B4"/>
                  </a:solidFill>
                  <a:latin typeface="Canva Sans"/>
                </a:rPr>
                <a:t>A region, a few reps, the accounts they already call on.</a:t>
              </a:r>
            </a:p>
          </p:txBody>
        </p:sp>
      </p:grpSp>
      <p:grpSp>
        <p:nvGrpSpPr>
          <p:cNvPr id="10" name="Step 2"/>
          <p:cNvGrpSpPr/>
          <p:nvPr/>
        </p:nvGrpSpPr>
        <p:grpSpPr>
          <a:xfrm>
            <a:off x="5212080" y="3657600"/>
            <a:ext cx="4023360" cy="3749040"/>
            <a:chOff x="5212080" y="3657600"/>
            <a:chExt cx="4023360" cy="3749040"/>
          </a:xfrm>
        </p:grpSpPr>
        <p:sp>
          <p:nvSpPr>
            <p:cNvPr id="11" name="Number"/>
            <p:cNvSpPr/>
            <p:nvPr/>
          </p:nvSpPr>
          <p:spPr>
            <a:xfrm>
              <a:off x="5212080" y="3657600"/>
              <a:ext cx="822960" cy="822960"/>
            </a:xfrm>
            <a:prstGeom prst="ellipse">
              <a:avLst/>
            </a:prstGeom>
            <a:solidFill>
              <a:srgbClr val="B36A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TextBox 11"/>
            <p:cNvSpPr txBox="1"/>
            <p:nvPr/>
          </p:nvSpPr>
          <p:spPr>
            <a:xfrm>
              <a:off x="5212080" y="3703320"/>
              <a:ext cx="822960" cy="731520"/>
            </a:xfrm>
            <a:prstGeom prst="rect">
              <a:avLst/>
            </a:prstGeom>
            <a:noFill/>
          </p:spPr>
          <p:txBody>
            <a:bodyPr wrap="square" anchor="ctr" lIns="45720" rIns="45720" tIns="18288" bIns="18288">
              <a:spAutoFit/>
            </a:bodyPr>
            <a:lstStyle/>
            <a:p>
              <a:pPr algn="ctr"/>
              <a:r>
                <a:rPr sz="3400" b="1" i="0">
                  <a:solidFill>
                    <a:srgbClr val="FFFFFF"/>
                  </a:solidFill>
                  <a:latin typeface="Canva Sans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12080" y="4663440"/>
              <a:ext cx="402336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800" b="1" i="0">
                  <a:solidFill>
                    <a:srgbClr val="FFFFFF"/>
                  </a:solidFill>
                  <a:latin typeface="Canva Sans"/>
                </a:rPr>
                <a:t>Connect your data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12080" y="5394960"/>
              <a:ext cx="3931920" cy="20116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0" i="0">
                  <a:solidFill>
                    <a:srgbClr val="9AA5B4"/>
                  </a:solidFill>
                  <a:latin typeface="Canva Sans"/>
                </a:rPr>
                <a:t>Your account list and sales data. No CRM project.</a:t>
              </a:r>
            </a:p>
          </p:txBody>
        </p:sp>
      </p:grpSp>
      <p:grpSp>
        <p:nvGrpSpPr>
          <p:cNvPr id="15" name="Step 3"/>
          <p:cNvGrpSpPr/>
          <p:nvPr/>
        </p:nvGrpSpPr>
        <p:grpSpPr>
          <a:xfrm>
            <a:off x="9509760" y="3657600"/>
            <a:ext cx="4023360" cy="3749040"/>
            <a:chOff x="9509760" y="3657600"/>
            <a:chExt cx="4023360" cy="3749040"/>
          </a:xfrm>
        </p:grpSpPr>
        <p:sp>
          <p:nvSpPr>
            <p:cNvPr id="16" name="Number"/>
            <p:cNvSpPr/>
            <p:nvPr/>
          </p:nvSpPr>
          <p:spPr>
            <a:xfrm>
              <a:off x="9509760" y="3657600"/>
              <a:ext cx="822960" cy="822960"/>
            </a:xfrm>
            <a:prstGeom prst="ellipse">
              <a:avLst/>
            </a:prstGeom>
            <a:solidFill>
              <a:srgbClr val="B36A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TextBox 16"/>
            <p:cNvSpPr txBox="1"/>
            <p:nvPr/>
          </p:nvSpPr>
          <p:spPr>
            <a:xfrm>
              <a:off x="9509760" y="3703320"/>
              <a:ext cx="822960" cy="731520"/>
            </a:xfrm>
            <a:prstGeom prst="rect">
              <a:avLst/>
            </a:prstGeom>
            <a:noFill/>
          </p:spPr>
          <p:txBody>
            <a:bodyPr wrap="square" anchor="ctr" lIns="45720" rIns="45720" tIns="18288" bIns="18288">
              <a:spAutoFit/>
            </a:bodyPr>
            <a:lstStyle/>
            <a:p>
              <a:pPr algn="ctr"/>
              <a:r>
                <a:rPr sz="3400" b="1" i="0">
                  <a:solidFill>
                    <a:srgbClr val="FFFFFF"/>
                  </a:solidFill>
                  <a:latin typeface="Canva Sans"/>
                </a:rPr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509760" y="4663440"/>
              <a:ext cx="402336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800" b="1" i="0">
                  <a:solidFill>
                    <a:srgbClr val="FFFFFF"/>
                  </a:solidFill>
                  <a:latin typeface="Canva Sans"/>
                </a:rPr>
                <a:t>Run it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509760" y="5394960"/>
              <a:ext cx="3931920" cy="20116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0" i="0">
                  <a:solidFill>
                    <a:srgbClr val="9AA5B4"/>
                  </a:solidFill>
                  <a:latin typeface="Canva Sans"/>
                </a:rPr>
                <a:t>Reps talk after every stop. Managers get the morning report.</a:t>
              </a:r>
            </a:p>
          </p:txBody>
        </p:sp>
      </p:grpSp>
      <p:grpSp>
        <p:nvGrpSpPr>
          <p:cNvPr id="20" name="Step 4"/>
          <p:cNvGrpSpPr/>
          <p:nvPr/>
        </p:nvGrpSpPr>
        <p:grpSpPr>
          <a:xfrm>
            <a:off x="13807440" y="3657600"/>
            <a:ext cx="4023360" cy="3749040"/>
            <a:chOff x="13807440" y="3657600"/>
            <a:chExt cx="4023360" cy="3749040"/>
          </a:xfrm>
        </p:grpSpPr>
        <p:sp>
          <p:nvSpPr>
            <p:cNvPr id="21" name="Number"/>
            <p:cNvSpPr/>
            <p:nvPr/>
          </p:nvSpPr>
          <p:spPr>
            <a:xfrm>
              <a:off x="13807440" y="3657600"/>
              <a:ext cx="822960" cy="822960"/>
            </a:xfrm>
            <a:prstGeom prst="ellipse">
              <a:avLst/>
            </a:prstGeom>
            <a:solidFill>
              <a:srgbClr val="B36A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2" name="TextBox 21"/>
            <p:cNvSpPr txBox="1"/>
            <p:nvPr/>
          </p:nvSpPr>
          <p:spPr>
            <a:xfrm>
              <a:off x="13807440" y="3703320"/>
              <a:ext cx="822960" cy="731520"/>
            </a:xfrm>
            <a:prstGeom prst="rect">
              <a:avLst/>
            </a:prstGeom>
            <a:noFill/>
          </p:spPr>
          <p:txBody>
            <a:bodyPr wrap="square" anchor="ctr" lIns="45720" rIns="45720" tIns="18288" bIns="18288">
              <a:spAutoFit/>
            </a:bodyPr>
            <a:lstStyle/>
            <a:p>
              <a:pPr algn="ctr"/>
              <a:r>
                <a:rPr sz="3400" b="1" i="0">
                  <a:solidFill>
                    <a:srgbClr val="FFFFFF"/>
                  </a:solidFill>
                  <a:latin typeface="Canva Sans"/>
                </a:rPr>
                <a:t>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807440" y="4663440"/>
              <a:ext cx="4023360" cy="73152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800" b="1" i="0">
                  <a:solidFill>
                    <a:srgbClr val="FFFFFF"/>
                  </a:solidFill>
                  <a:latin typeface="Canva Sans"/>
                </a:rPr>
                <a:t>Review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807440" y="5394960"/>
              <a:ext cx="3931920" cy="2011680"/>
            </a:xfrm>
            <a:prstGeom prst="rect">
              <a:avLst/>
            </a:prstGeom>
            <a:noFill/>
          </p:spPr>
          <p:txBody>
            <a:bodyPr wrap="square" anchor="t" lIns="45720" rIns="45720" tIns="18288" bIns="18288">
              <a:spAutoFit/>
            </a:bodyPr>
            <a:lstStyle/>
            <a:p>
              <a:pPr algn="l"/>
              <a:r>
                <a:rPr sz="2400" b="0" i="0">
                  <a:solidFill>
                    <a:srgbClr val="9AA5B4"/>
                  </a:solidFill>
                  <a:latin typeface="Canva Sans"/>
                </a:rPr>
                <a:t>A record of every conversation and a business review in hand. Yours either way.</a:t>
              </a:r>
            </a:p>
          </p:txBody>
        </p:sp>
      </p:grpSp>
      <p:sp>
        <p:nvSpPr>
          <p:cNvPr id="25" name="Opt out"/>
          <p:cNvSpPr txBox="1"/>
          <p:nvPr/>
        </p:nvSpPr>
        <p:spPr>
          <a:xfrm>
            <a:off x="914400" y="7955279"/>
            <a:ext cx="16459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nva Sans"/>
              </a:rPr>
              <a:t>If at any point the engagement is not delivering value, you can opt out.</a:t>
            </a:r>
          </a:p>
        </p:txBody>
      </p:sp>
      <p:sp>
        <p:nvSpPr>
          <p:cNvPr id="26" name="Contact"/>
          <p:cNvSpPr txBox="1"/>
          <p:nvPr/>
        </p:nvSpPr>
        <p:spPr>
          <a:xfrm>
            <a:off x="914400" y="8778240"/>
            <a:ext cx="16459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B36A43"/>
                </a:solidFill>
                <a:latin typeface="Canva Sans"/>
              </a:rPr>
              <a:t>Lauren McCullough, CEO  |  lauren@tromml.com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